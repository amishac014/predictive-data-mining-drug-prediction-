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Roboto" panose="02000000000000000000" pitchFamily="2" charset="0"/>
      <p:regular r:id="rId17"/>
      <p:bold r:id="rId18"/>
      <p:italic r:id="rId19"/>
      <p:boldItalic r:id="rId20"/>
    </p:embeddedFont>
    <p:embeddedFont>
      <p:font typeface="Roboto Slab" pitchFamily="2"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970b36e01_0_15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d970b36e01_0_1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461878da1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461878da1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d970b36e01_0_15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d970b36e01_0_1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d970b36e01_0_15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d970b36e01_0_1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4679acfa4b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4679acfa4b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4679acfa4b_1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4679acfa4b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4679acfa4b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4679acfa4b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4679acfa4b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4679acfa4b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679acfa4b_1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679acfa4b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46f8e3afd3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46f8e3afd3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46f8e3afd3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46f8e3afd3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4679acfa4b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4679acfa4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d970b36e01_0_15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d970b36e01_0_1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hyperlink" Target="https://pandas.pydata.org/docs/" TargetMode="External"/><Relationship Id="rId3" Type="http://schemas.openxmlformats.org/officeDocument/2006/relationships/hyperlink" Target="https://www.kaggle.com/datasets/pablomgomez21/drugs-a-b-c-x-y-for-decision-trees" TargetMode="External"/><Relationship Id="rId7" Type="http://schemas.openxmlformats.org/officeDocument/2006/relationships/hyperlink" Target="https://farshadabdulazeez.medium.com/understanding-decision-tree-regressor-an-in-depth-intuition-a1d3af182efd"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hyperlink" Target="https://www.sciencedirect.com/topics/computer-science/decision-tree-classifier" TargetMode="External"/><Relationship Id="rId5" Type="http://schemas.openxmlformats.org/officeDocument/2006/relationships/hyperlink" Target="https://scikit-learn.org/stable/modules/generated/sklearn.tree.DecisionTreeClassifier.html" TargetMode="External"/><Relationship Id="rId4" Type="http://schemas.openxmlformats.org/officeDocument/2006/relationships/hyperlink" Target="https://colab.research.google.com/drive/1yPla0lPP5ZCe6eA8rNcVm7Y-9VMchCv4#scrollTo=vVq19pdvbt3S" TargetMode="External"/><Relationship Id="rId9" Type="http://schemas.openxmlformats.org/officeDocument/2006/relationships/hyperlink" Target="https://numpy.org/doc/stab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398050"/>
            <a:ext cx="5783400" cy="1457400"/>
          </a:xfrm>
          <a:prstGeom prst="rect">
            <a:avLst/>
          </a:prstGeom>
        </p:spPr>
        <p:txBody>
          <a:bodyPr spcFirstLastPara="1" wrap="square" lIns="91425" tIns="91425" rIns="91425" bIns="91425" anchor="b" anchorCtr="0">
            <a:noAutofit/>
          </a:bodyPr>
          <a:lstStyle/>
          <a:p>
            <a:pPr marL="0" lvl="0" indent="0" algn="ctr" rtl="0">
              <a:lnSpc>
                <a:spcPct val="107916"/>
              </a:lnSpc>
              <a:spcBef>
                <a:spcPts val="0"/>
              </a:spcBef>
              <a:spcAft>
                <a:spcPts val="800"/>
              </a:spcAft>
              <a:buClr>
                <a:schemeClr val="dk1"/>
              </a:buClr>
              <a:buSzPts val="1100"/>
              <a:buFont typeface="Arial"/>
              <a:buNone/>
            </a:pPr>
            <a:r>
              <a:rPr lang="en" sz="2700" b="1">
                <a:latin typeface="Roboto"/>
                <a:ea typeface="Roboto"/>
                <a:cs typeface="Roboto"/>
                <a:sym typeface="Roboto"/>
              </a:rPr>
              <a:t>CSIT558_01SP25 | ASSIGNMENT-4: PREDICTIVE DATA MINING </a:t>
            </a:r>
            <a:endParaRPr sz="2700" b="1">
              <a:latin typeface="Roboto"/>
              <a:ea typeface="Roboto"/>
              <a:cs typeface="Roboto"/>
              <a:sym typeface="Roboto"/>
            </a:endParaRPr>
          </a:p>
        </p:txBody>
      </p:sp>
      <p:sp>
        <p:nvSpPr>
          <p:cNvPr id="64" name="Google Shape;64;p13"/>
          <p:cNvSpPr txBox="1">
            <a:spLocks noGrp="1"/>
          </p:cNvSpPr>
          <p:nvPr>
            <p:ph type="subTitle" idx="1"/>
          </p:nvPr>
        </p:nvSpPr>
        <p:spPr>
          <a:xfrm>
            <a:off x="1680300" y="2470225"/>
            <a:ext cx="5783400" cy="2346300"/>
          </a:xfrm>
          <a:prstGeom prst="rect">
            <a:avLst/>
          </a:prstGeom>
        </p:spPr>
        <p:txBody>
          <a:bodyPr spcFirstLastPara="1" wrap="square" lIns="91425" tIns="91425" rIns="91425" bIns="91425" anchor="t" anchorCtr="0">
            <a:noAutofit/>
          </a:bodyPr>
          <a:lstStyle/>
          <a:p>
            <a:pPr marL="0" lvl="0" indent="0" algn="ctr" rtl="0">
              <a:lnSpc>
                <a:spcPct val="107916"/>
              </a:lnSpc>
              <a:spcBef>
                <a:spcPts val="0"/>
              </a:spcBef>
              <a:spcAft>
                <a:spcPts val="0"/>
              </a:spcAft>
              <a:buNone/>
            </a:pPr>
            <a:r>
              <a:rPr lang="en" sz="1200" b="1">
                <a:solidFill>
                  <a:schemeClr val="dk1"/>
                </a:solidFill>
              </a:rPr>
              <a:t>BY</a:t>
            </a:r>
            <a:r>
              <a:rPr lang="en" sz="1200" b="1"/>
              <a:t>  </a:t>
            </a:r>
            <a:endParaRPr sz="1200" b="1"/>
          </a:p>
          <a:p>
            <a:pPr marL="0" lvl="0" indent="0" algn="ctr" rtl="0">
              <a:lnSpc>
                <a:spcPct val="107916"/>
              </a:lnSpc>
              <a:spcBef>
                <a:spcPts val="800"/>
              </a:spcBef>
              <a:spcAft>
                <a:spcPts val="0"/>
              </a:spcAft>
              <a:buClr>
                <a:schemeClr val="dk1"/>
              </a:buClr>
              <a:buSzPts val="1100"/>
              <a:buFont typeface="Arial"/>
              <a:buNone/>
            </a:pPr>
            <a:r>
              <a:rPr lang="en" sz="1200" b="1"/>
              <a:t>Chaudhari, Amishaben Natavarbhai </a:t>
            </a:r>
            <a:r>
              <a:rPr lang="en" sz="1200" b="1">
                <a:solidFill>
                  <a:schemeClr val="dk1"/>
                </a:solidFill>
              </a:rPr>
              <a:t>[CWID:50129394]</a:t>
            </a:r>
            <a:endParaRPr sz="1200" b="1">
              <a:solidFill>
                <a:schemeClr val="dk1"/>
              </a:solidFill>
            </a:endParaRPr>
          </a:p>
          <a:p>
            <a:pPr marL="0" lvl="0" indent="0" algn="ctr" rtl="0">
              <a:lnSpc>
                <a:spcPct val="107916"/>
              </a:lnSpc>
              <a:spcBef>
                <a:spcPts val="800"/>
              </a:spcBef>
              <a:spcAft>
                <a:spcPts val="0"/>
              </a:spcAft>
              <a:buClr>
                <a:schemeClr val="dk1"/>
              </a:buClr>
              <a:buSzPts val="1100"/>
              <a:buFont typeface="Arial"/>
              <a:buNone/>
            </a:pPr>
            <a:r>
              <a:rPr lang="en" sz="1200" b="1"/>
              <a:t>        Javed, Syed Mehrose </a:t>
            </a:r>
            <a:r>
              <a:rPr lang="en" sz="1200" b="1">
                <a:solidFill>
                  <a:schemeClr val="dk1"/>
                </a:solidFill>
              </a:rPr>
              <a:t>[CWID: 50128848]</a:t>
            </a:r>
            <a:endParaRPr sz="1200" b="1">
              <a:solidFill>
                <a:schemeClr val="dk1"/>
              </a:solidFill>
            </a:endParaRPr>
          </a:p>
          <a:p>
            <a:pPr marL="0" lvl="0" indent="0" algn="ctr" rtl="0">
              <a:lnSpc>
                <a:spcPct val="107916"/>
              </a:lnSpc>
              <a:spcBef>
                <a:spcPts val="800"/>
              </a:spcBef>
              <a:spcAft>
                <a:spcPts val="0"/>
              </a:spcAft>
              <a:buClr>
                <a:schemeClr val="dk1"/>
              </a:buClr>
              <a:buSzPts val="1100"/>
              <a:buFont typeface="Arial"/>
              <a:buNone/>
            </a:pPr>
            <a:r>
              <a:rPr lang="en" sz="1200" b="1"/>
              <a:t>        Subhani, Muhammad Kamal </a:t>
            </a:r>
            <a:r>
              <a:rPr lang="en" sz="1200" b="1">
                <a:solidFill>
                  <a:schemeClr val="dk1"/>
                </a:solidFill>
              </a:rPr>
              <a:t>[CWID: 50136417]</a:t>
            </a:r>
            <a:endParaRPr sz="1200" b="1">
              <a:solidFill>
                <a:schemeClr val="dk1"/>
              </a:solidFill>
            </a:endParaRPr>
          </a:p>
          <a:p>
            <a:pPr marL="0" lvl="0" indent="0" algn="ctr" rtl="0">
              <a:lnSpc>
                <a:spcPct val="107916"/>
              </a:lnSpc>
              <a:spcBef>
                <a:spcPts val="800"/>
              </a:spcBef>
              <a:spcAft>
                <a:spcPts val="0"/>
              </a:spcAft>
              <a:buNone/>
            </a:pPr>
            <a:r>
              <a:rPr lang="en" sz="1200" b="1"/>
              <a:t>        Thangavel Sathiyamoorthy, Punithan </a:t>
            </a:r>
            <a:r>
              <a:rPr lang="en" sz="1200" b="1">
                <a:solidFill>
                  <a:schemeClr val="dk1"/>
                </a:solidFill>
              </a:rPr>
              <a:t>[CWID: 50135877]</a:t>
            </a:r>
            <a:endParaRPr sz="1200" b="1">
              <a:solidFill>
                <a:schemeClr val="dk1"/>
              </a:solidFill>
            </a:endParaRPr>
          </a:p>
          <a:p>
            <a:pPr marL="0" lvl="0" indent="0" algn="ctr" rtl="0">
              <a:lnSpc>
                <a:spcPct val="107916"/>
              </a:lnSpc>
              <a:spcBef>
                <a:spcPts val="800"/>
              </a:spcBef>
              <a:spcAft>
                <a:spcPts val="0"/>
              </a:spcAft>
              <a:buNone/>
            </a:pPr>
            <a:r>
              <a:rPr lang="en" sz="1200" b="1"/>
              <a:t>Venkata Appala Manoj Muvvala </a:t>
            </a:r>
            <a:r>
              <a:rPr lang="en" sz="1200" b="1">
                <a:solidFill>
                  <a:schemeClr val="dk1"/>
                </a:solidFill>
              </a:rPr>
              <a:t>[CWID: 50122981 ]</a:t>
            </a:r>
            <a:endParaRPr sz="1200" b="1">
              <a:solidFill>
                <a:schemeClr val="dk1"/>
              </a:solidFill>
            </a:endParaRPr>
          </a:p>
          <a:p>
            <a:pPr marL="0" lvl="0" indent="0" algn="ctr" rtl="0">
              <a:lnSpc>
                <a:spcPct val="107916"/>
              </a:lnSpc>
              <a:spcBef>
                <a:spcPts val="800"/>
              </a:spcBef>
              <a:spcAft>
                <a:spcPts val="800"/>
              </a:spcAft>
              <a:buClr>
                <a:schemeClr val="dk1"/>
              </a:buClr>
              <a:buSzPts val="1100"/>
              <a:buFont typeface="Arial"/>
              <a:buNone/>
            </a:pPr>
            <a:endParaRPr sz="1200" b="1">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DESCRIPTION</a:t>
            </a:r>
            <a:endParaRPr/>
          </a:p>
        </p:txBody>
      </p:sp>
      <p:sp>
        <p:nvSpPr>
          <p:cNvPr id="70" name="Google Shape;70;p14"/>
          <p:cNvSpPr txBox="1">
            <a:spLocks noGrp="1"/>
          </p:cNvSpPr>
          <p:nvPr>
            <p:ph type="body" idx="1"/>
          </p:nvPr>
        </p:nvSpPr>
        <p:spPr>
          <a:xfrm>
            <a:off x="387900" y="1239650"/>
            <a:ext cx="8368200" cy="36171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 sz="1500" b="1" u="sng">
                <a:latin typeface="Times New Roman"/>
                <a:ea typeface="Times New Roman"/>
                <a:cs typeface="Times New Roman"/>
                <a:sym typeface="Times New Roman"/>
              </a:rPr>
              <a:t>Dataset</a:t>
            </a:r>
            <a:r>
              <a:rPr lang="en" sz="1500" b="1">
                <a:latin typeface="Times New Roman"/>
                <a:ea typeface="Times New Roman"/>
                <a:cs typeface="Times New Roman"/>
                <a:sym typeface="Times New Roman"/>
              </a:rPr>
              <a:t>: </a:t>
            </a:r>
            <a:endParaRPr sz="1500" b="1">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a:latin typeface="Times New Roman"/>
                <a:ea typeface="Times New Roman"/>
                <a:cs typeface="Times New Roman"/>
                <a:sym typeface="Times New Roman"/>
              </a:rPr>
              <a:t>This dataset contains medical data including the patient characteristics such as age, sex, blood pressure levels, and cholesterol levels, as well as the drugs that they responded to. The dataset can be used to predict the most suitable drug for future patients based on their characteristics.</a:t>
            </a:r>
            <a:endParaRPr sz="1500">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b="1" u="sng">
                <a:latin typeface="Times New Roman"/>
                <a:ea typeface="Times New Roman"/>
                <a:cs typeface="Times New Roman"/>
                <a:sym typeface="Times New Roman"/>
              </a:rPr>
              <a:t>Overview</a:t>
            </a:r>
            <a:r>
              <a:rPr lang="en" sz="1500" b="1">
                <a:latin typeface="Times New Roman"/>
                <a:ea typeface="Times New Roman"/>
                <a:cs typeface="Times New Roman"/>
                <a:sym typeface="Times New Roman"/>
              </a:rPr>
              <a:t>:</a:t>
            </a:r>
            <a:endParaRPr sz="1500" b="1">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a:latin typeface="Times New Roman"/>
                <a:ea typeface="Times New Roman"/>
                <a:cs typeface="Times New Roman"/>
                <a:sym typeface="Times New Roman"/>
              </a:rPr>
              <a:t>The dataset consists of attributes of the patients that influence drug response. It contains 3 categorical (Sex, BP, Cholesterol) and 2 numerical (Age, Na_to_K) attributes. The target variable (Drug) is the prescribed drug having categorical values of 5 different drugs (A, B, C, X, and Y) to be recommended.</a:t>
            </a:r>
            <a:endParaRPr sz="1500">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b="1" u="sng">
                <a:latin typeface="Times New Roman"/>
                <a:ea typeface="Times New Roman"/>
                <a:cs typeface="Times New Roman"/>
                <a:sym typeface="Times New Roman"/>
              </a:rPr>
              <a:t>Potential Applications</a:t>
            </a:r>
            <a:r>
              <a:rPr lang="en" sz="1500" b="1">
                <a:latin typeface="Times New Roman"/>
                <a:ea typeface="Times New Roman"/>
                <a:cs typeface="Times New Roman"/>
                <a:sym typeface="Times New Roman"/>
              </a:rPr>
              <a:t>: </a:t>
            </a:r>
            <a:endParaRPr sz="1500" b="1">
              <a:latin typeface="Times New Roman"/>
              <a:ea typeface="Times New Roman"/>
              <a:cs typeface="Times New Roman"/>
              <a:sym typeface="Times New Roman"/>
            </a:endParaRPr>
          </a:p>
          <a:p>
            <a:pPr marL="0" lvl="0" indent="0" algn="l" rtl="0">
              <a:lnSpc>
                <a:spcPct val="107916"/>
              </a:lnSpc>
              <a:spcBef>
                <a:spcPts val="800"/>
              </a:spcBef>
              <a:spcAft>
                <a:spcPts val="0"/>
              </a:spcAft>
              <a:buNone/>
            </a:pPr>
            <a:r>
              <a:rPr lang="en" sz="1500" b="1">
                <a:latin typeface="Times New Roman"/>
                <a:ea typeface="Times New Roman"/>
                <a:cs typeface="Times New Roman"/>
                <a:sym typeface="Times New Roman"/>
              </a:rPr>
              <a:t>Medical Decision Trees</a:t>
            </a:r>
            <a:r>
              <a:rPr lang="en" sz="1500">
                <a:latin typeface="Times New Roman"/>
                <a:ea typeface="Times New Roman"/>
                <a:cs typeface="Times New Roman"/>
                <a:sym typeface="Times New Roman"/>
              </a:rPr>
              <a:t> for drug prediction;                                                                                       </a:t>
            </a:r>
            <a:r>
              <a:rPr lang="en" sz="1500" b="1">
                <a:latin typeface="Times New Roman"/>
                <a:ea typeface="Times New Roman"/>
                <a:cs typeface="Times New Roman"/>
                <a:sym typeface="Times New Roman"/>
              </a:rPr>
              <a:t>Feature Analysis</a:t>
            </a:r>
            <a:r>
              <a:rPr lang="en" sz="1500">
                <a:latin typeface="Times New Roman"/>
                <a:ea typeface="Times New Roman"/>
                <a:cs typeface="Times New Roman"/>
                <a:sym typeface="Times New Roman"/>
              </a:rPr>
              <a:t> to determine which factors (e.g., blood pressure, cholesterol) are most influential; </a:t>
            </a:r>
            <a:r>
              <a:rPr lang="en" sz="1500" b="1">
                <a:latin typeface="Times New Roman"/>
                <a:ea typeface="Times New Roman"/>
                <a:cs typeface="Times New Roman"/>
                <a:sym typeface="Times New Roman"/>
              </a:rPr>
              <a:t>Healthcare AI Applications</a:t>
            </a:r>
            <a:r>
              <a:rPr lang="en" sz="1500">
                <a:latin typeface="Times New Roman"/>
                <a:ea typeface="Times New Roman"/>
                <a:cs typeface="Times New Roman"/>
                <a:sym typeface="Times New Roman"/>
              </a:rPr>
              <a:t> for AI-powered drug recommendation systems.</a:t>
            </a:r>
            <a:endParaRPr sz="1500">
              <a:latin typeface="Times New Roman"/>
              <a:ea typeface="Times New Roman"/>
              <a:cs typeface="Times New Roman"/>
              <a:sym typeface="Times New Roman"/>
            </a:endParaRPr>
          </a:p>
          <a:p>
            <a:pPr marL="0" lvl="0" indent="0" algn="just" rtl="0">
              <a:lnSpc>
                <a:spcPct val="107916"/>
              </a:lnSpc>
              <a:spcBef>
                <a:spcPts val="800"/>
              </a:spcBef>
              <a:spcAft>
                <a:spcPts val="800"/>
              </a:spcAft>
              <a:buNone/>
            </a:pPr>
            <a:endParaRPr sz="1500" b="1">
              <a:latin typeface="Times New Roman"/>
              <a:ea typeface="Times New Roman"/>
              <a:cs typeface="Times New Roman"/>
              <a:sym typeface="Times New Roman"/>
            </a:endParaRPr>
          </a:p>
        </p:txBody>
      </p:sp>
      <p:pic>
        <p:nvPicPr>
          <p:cNvPr id="71" name="Google Shape;71;p14" title="dataset-cover.jpg"/>
          <p:cNvPicPr preferRelativeResize="0"/>
          <p:nvPr/>
        </p:nvPicPr>
        <p:blipFill>
          <a:blip r:embed="rId3">
            <a:alphaModFix/>
          </a:blip>
          <a:stretch>
            <a:fillRect/>
          </a:stretch>
        </p:blipFill>
        <p:spPr>
          <a:xfrm>
            <a:off x="6546950" y="559525"/>
            <a:ext cx="2124549" cy="1070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 MINING TECHNIQUE</a:t>
            </a:r>
            <a:endParaRPr/>
          </a:p>
        </p:txBody>
      </p:sp>
      <p:sp>
        <p:nvSpPr>
          <p:cNvPr id="77" name="Google Shape;77;p15"/>
          <p:cNvSpPr txBox="1">
            <a:spLocks noGrp="1"/>
          </p:cNvSpPr>
          <p:nvPr>
            <p:ph type="body" idx="1"/>
          </p:nvPr>
        </p:nvSpPr>
        <p:spPr>
          <a:xfrm>
            <a:off x="387900" y="1258800"/>
            <a:ext cx="5201100" cy="18510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 sz="1500" b="1" u="sng">
                <a:latin typeface="Times New Roman"/>
                <a:ea typeface="Times New Roman"/>
                <a:cs typeface="Times New Roman"/>
                <a:sym typeface="Times New Roman"/>
              </a:rPr>
              <a:t>Decision Tree Classifier</a:t>
            </a:r>
            <a:r>
              <a:rPr lang="en" sz="1500" b="1">
                <a:latin typeface="Times New Roman"/>
                <a:ea typeface="Times New Roman"/>
                <a:cs typeface="Times New Roman"/>
                <a:sym typeface="Times New Roman"/>
              </a:rPr>
              <a:t>:</a:t>
            </a:r>
            <a:endParaRPr sz="1500" b="1">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a:latin typeface="Times New Roman"/>
                <a:ea typeface="Times New Roman"/>
                <a:cs typeface="Times New Roman"/>
                <a:sym typeface="Times New Roman"/>
              </a:rPr>
              <a:t>A Decision Tree Classifier is a supervised machine learning algorithm used for classification tasks, where data is split into a tree-like structure based on feature values. It recursively divides  the dataset into subsets, creating decision rules that lead to specific class predictions at the leaf nodes.</a:t>
            </a:r>
            <a:endParaRPr sz="1500">
              <a:latin typeface="Times New Roman"/>
              <a:ea typeface="Times New Roman"/>
              <a:cs typeface="Times New Roman"/>
              <a:sym typeface="Times New Roman"/>
            </a:endParaRPr>
          </a:p>
          <a:p>
            <a:pPr marL="0" lvl="0" indent="0" algn="just" rtl="0">
              <a:lnSpc>
                <a:spcPct val="107916"/>
              </a:lnSpc>
              <a:spcBef>
                <a:spcPts val="800"/>
              </a:spcBef>
              <a:spcAft>
                <a:spcPts val="800"/>
              </a:spcAft>
              <a:buNone/>
            </a:pPr>
            <a:endParaRPr sz="1500">
              <a:latin typeface="Times New Roman"/>
              <a:ea typeface="Times New Roman"/>
              <a:cs typeface="Times New Roman"/>
              <a:sym typeface="Times New Roman"/>
            </a:endParaRPr>
          </a:p>
        </p:txBody>
      </p:sp>
      <p:pic>
        <p:nvPicPr>
          <p:cNvPr id="78" name="Google Shape;78;p15" title="Screenshot 2025-04-01 221527.png"/>
          <p:cNvPicPr preferRelativeResize="0"/>
          <p:nvPr/>
        </p:nvPicPr>
        <p:blipFill>
          <a:blip r:embed="rId3">
            <a:alphaModFix/>
          </a:blip>
          <a:stretch>
            <a:fillRect/>
          </a:stretch>
        </p:blipFill>
        <p:spPr>
          <a:xfrm>
            <a:off x="5676725" y="1370925"/>
            <a:ext cx="3008574" cy="1626750"/>
          </a:xfrm>
          <a:prstGeom prst="rect">
            <a:avLst/>
          </a:prstGeom>
          <a:noFill/>
          <a:ln>
            <a:noFill/>
          </a:ln>
        </p:spPr>
      </p:pic>
      <p:sp>
        <p:nvSpPr>
          <p:cNvPr id="79" name="Google Shape;79;p15"/>
          <p:cNvSpPr txBox="1"/>
          <p:nvPr/>
        </p:nvSpPr>
        <p:spPr>
          <a:xfrm>
            <a:off x="387900" y="3186175"/>
            <a:ext cx="8368200" cy="12519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 sz="1500" b="1" u="sng">
                <a:solidFill>
                  <a:schemeClr val="dk1"/>
                </a:solidFill>
                <a:latin typeface="Times New Roman"/>
                <a:ea typeface="Times New Roman"/>
                <a:cs typeface="Times New Roman"/>
                <a:sym typeface="Times New Roman"/>
              </a:rPr>
              <a:t>Why Decision Tree Classifier</a:t>
            </a:r>
            <a:r>
              <a:rPr lang="en" sz="1500" b="1">
                <a:solidFill>
                  <a:schemeClr val="dk1"/>
                </a:solidFill>
                <a:latin typeface="Times New Roman"/>
                <a:ea typeface="Times New Roman"/>
                <a:cs typeface="Times New Roman"/>
                <a:sym typeface="Times New Roman"/>
              </a:rPr>
              <a:t>?</a:t>
            </a:r>
            <a:endParaRPr sz="1500" b="1">
              <a:solidFill>
                <a:schemeClr val="dk1"/>
              </a:solidFill>
              <a:latin typeface="Times New Roman"/>
              <a:ea typeface="Times New Roman"/>
              <a:cs typeface="Times New Roman"/>
              <a:sym typeface="Times New Roman"/>
            </a:endParaRPr>
          </a:p>
          <a:p>
            <a:pPr marL="0" lvl="0" indent="0" algn="just" rtl="0">
              <a:lnSpc>
                <a:spcPct val="107916"/>
              </a:lnSpc>
              <a:spcBef>
                <a:spcPts val="800"/>
              </a:spcBef>
              <a:spcAft>
                <a:spcPts val="800"/>
              </a:spcAft>
              <a:buNone/>
            </a:pPr>
            <a:r>
              <a:rPr lang="en" sz="1500">
                <a:solidFill>
                  <a:schemeClr val="dk1"/>
                </a:solidFill>
                <a:latin typeface="Times New Roman"/>
                <a:ea typeface="Times New Roman"/>
                <a:cs typeface="Times New Roman"/>
                <a:sym typeface="Times New Roman"/>
              </a:rPr>
              <a:t>A Decision Tree Classifier is well-suited for this dataset because it can very effectively analyze various attributes of the patients and determine the most appropriate drug for them by creating a functioning tree based on the sequential decisions it makes on basis of the relevant features. Additionally, it requires minimal preprocessing and is reliable for fast and precise decision-making.</a:t>
            </a:r>
            <a:endParaRPr sz="18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 LOADING AND CLEANING</a:t>
            </a:r>
            <a:endParaRPr/>
          </a:p>
        </p:txBody>
      </p:sp>
      <p:sp>
        <p:nvSpPr>
          <p:cNvPr id="85" name="Google Shape;85;p16"/>
          <p:cNvSpPr txBox="1">
            <a:spLocks noGrp="1"/>
          </p:cNvSpPr>
          <p:nvPr>
            <p:ph type="body" idx="1"/>
          </p:nvPr>
        </p:nvSpPr>
        <p:spPr>
          <a:xfrm>
            <a:off x="378688" y="1280225"/>
            <a:ext cx="3475500" cy="325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b="1" u="sng">
                <a:latin typeface="Times New Roman"/>
                <a:ea typeface="Times New Roman"/>
                <a:cs typeface="Times New Roman"/>
                <a:sym typeface="Times New Roman"/>
              </a:rPr>
              <a:t>Data Loading:</a:t>
            </a:r>
            <a:endParaRPr sz="1500" b="1" u="sng">
              <a:latin typeface="Times New Roman"/>
              <a:ea typeface="Times New Roman"/>
              <a:cs typeface="Times New Roman"/>
              <a:sym typeface="Times New Roman"/>
            </a:endParaRPr>
          </a:p>
          <a:p>
            <a:pPr marL="0" lvl="0" indent="0" algn="l" rtl="0">
              <a:spcBef>
                <a:spcPts val="1200"/>
              </a:spcBef>
              <a:spcAft>
                <a:spcPts val="0"/>
              </a:spcAft>
              <a:buNone/>
            </a:pPr>
            <a:endParaRPr sz="1500"/>
          </a:p>
          <a:p>
            <a:pPr marL="0" lvl="0" indent="0" algn="l" rtl="0">
              <a:spcBef>
                <a:spcPts val="1200"/>
              </a:spcBef>
              <a:spcAft>
                <a:spcPts val="0"/>
              </a:spcAft>
              <a:buNone/>
            </a:pPr>
            <a:endParaRPr sz="1500"/>
          </a:p>
          <a:p>
            <a:pPr marL="0" lvl="0" indent="0" algn="l" rtl="0">
              <a:spcBef>
                <a:spcPts val="1200"/>
              </a:spcBef>
              <a:spcAft>
                <a:spcPts val="0"/>
              </a:spcAft>
              <a:buNone/>
            </a:pPr>
            <a:r>
              <a:rPr lang="en" sz="1500"/>
              <a:t>                                   		D</a:t>
            </a:r>
            <a:endParaRPr sz="1500"/>
          </a:p>
          <a:p>
            <a:pPr marL="0" lvl="0" indent="0" algn="l" rtl="0">
              <a:spcBef>
                <a:spcPts val="1200"/>
              </a:spcBef>
              <a:spcAft>
                <a:spcPts val="0"/>
              </a:spcAft>
              <a:buNone/>
            </a:pPr>
            <a:endParaRPr sz="1500"/>
          </a:p>
          <a:p>
            <a:pPr marL="0" lvl="0" indent="0" algn="l" rtl="0">
              <a:spcBef>
                <a:spcPts val="1200"/>
              </a:spcBef>
              <a:spcAft>
                <a:spcPts val="1200"/>
              </a:spcAft>
              <a:buNone/>
            </a:pPr>
            <a:r>
              <a:rPr lang="en" sz="1500" b="1" u="sng">
                <a:latin typeface="Times New Roman"/>
                <a:ea typeface="Times New Roman"/>
                <a:cs typeface="Times New Roman"/>
                <a:sym typeface="Times New Roman"/>
              </a:rPr>
              <a:t>Duplicate check:</a:t>
            </a:r>
            <a:endParaRPr sz="1500" b="1" u="sng">
              <a:latin typeface="Times New Roman"/>
              <a:ea typeface="Times New Roman"/>
              <a:cs typeface="Times New Roman"/>
              <a:sym typeface="Times New Roman"/>
            </a:endParaRPr>
          </a:p>
        </p:txBody>
      </p:sp>
      <p:sp>
        <p:nvSpPr>
          <p:cNvPr id="86" name="Google Shape;86;p16"/>
          <p:cNvSpPr txBox="1"/>
          <p:nvPr/>
        </p:nvSpPr>
        <p:spPr>
          <a:xfrm>
            <a:off x="4178325" y="1373825"/>
            <a:ext cx="4388400" cy="86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latin typeface="Times New Roman"/>
                <a:ea typeface="Times New Roman"/>
                <a:cs typeface="Times New Roman"/>
                <a:sym typeface="Times New Roman"/>
              </a:rPr>
              <a:t>As part of </a:t>
            </a:r>
            <a:r>
              <a:rPr lang="en" sz="1500" u="sng">
                <a:solidFill>
                  <a:schemeClr val="dk1"/>
                </a:solidFill>
                <a:latin typeface="Times New Roman"/>
                <a:ea typeface="Times New Roman"/>
                <a:cs typeface="Times New Roman"/>
                <a:sym typeface="Times New Roman"/>
              </a:rPr>
              <a:t>Data Cleaning</a:t>
            </a:r>
            <a:r>
              <a:rPr lang="en" sz="1500">
                <a:solidFill>
                  <a:schemeClr val="dk1"/>
                </a:solidFill>
                <a:latin typeface="Times New Roman"/>
                <a:ea typeface="Times New Roman"/>
                <a:cs typeface="Times New Roman"/>
                <a:sym typeface="Times New Roman"/>
              </a:rPr>
              <a:t> process, we</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Explored the data and column data types</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Checked for missing values</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Checked for duplicate values</a:t>
            </a:r>
            <a:endParaRPr sz="150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500">
              <a:solidFill>
                <a:schemeClr val="dk1"/>
              </a:solidFill>
              <a:latin typeface="Times New Roman"/>
              <a:ea typeface="Times New Roman"/>
              <a:cs typeface="Times New Roman"/>
              <a:sym typeface="Times New Roman"/>
            </a:endParaRPr>
          </a:p>
        </p:txBody>
      </p:sp>
      <p:pic>
        <p:nvPicPr>
          <p:cNvPr id="87" name="Google Shape;87;p16"/>
          <p:cNvPicPr preferRelativeResize="0"/>
          <p:nvPr/>
        </p:nvPicPr>
        <p:blipFill>
          <a:blip r:embed="rId3">
            <a:alphaModFix/>
          </a:blip>
          <a:stretch>
            <a:fillRect/>
          </a:stretch>
        </p:blipFill>
        <p:spPr>
          <a:xfrm>
            <a:off x="6865275" y="2876975"/>
            <a:ext cx="1824550" cy="1877925"/>
          </a:xfrm>
          <a:prstGeom prst="rect">
            <a:avLst/>
          </a:prstGeom>
          <a:noFill/>
          <a:ln>
            <a:noFill/>
          </a:ln>
        </p:spPr>
      </p:pic>
      <p:pic>
        <p:nvPicPr>
          <p:cNvPr id="88" name="Google Shape;88;p16"/>
          <p:cNvPicPr preferRelativeResize="0"/>
          <p:nvPr/>
        </p:nvPicPr>
        <p:blipFill>
          <a:blip r:embed="rId4">
            <a:alphaModFix/>
          </a:blip>
          <a:stretch>
            <a:fillRect/>
          </a:stretch>
        </p:blipFill>
        <p:spPr>
          <a:xfrm>
            <a:off x="478250" y="3788450"/>
            <a:ext cx="3276375" cy="860743"/>
          </a:xfrm>
          <a:prstGeom prst="rect">
            <a:avLst/>
          </a:prstGeom>
          <a:noFill/>
          <a:ln>
            <a:noFill/>
          </a:ln>
        </p:spPr>
      </p:pic>
      <p:sp>
        <p:nvSpPr>
          <p:cNvPr id="89" name="Google Shape;89;p16"/>
          <p:cNvSpPr txBox="1"/>
          <p:nvPr/>
        </p:nvSpPr>
        <p:spPr>
          <a:xfrm>
            <a:off x="4252400" y="2464225"/>
            <a:ext cx="4644600" cy="35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u="sng">
                <a:solidFill>
                  <a:schemeClr val="dk1"/>
                </a:solidFill>
                <a:latin typeface="Times New Roman"/>
                <a:ea typeface="Times New Roman"/>
                <a:cs typeface="Times New Roman"/>
                <a:sym typeface="Times New Roman"/>
              </a:rPr>
              <a:t>Data Description:</a:t>
            </a:r>
            <a:r>
              <a:rPr lang="en" sz="1500" b="1">
                <a:solidFill>
                  <a:schemeClr val="dk1"/>
                </a:solidFill>
                <a:latin typeface="Times New Roman"/>
                <a:ea typeface="Times New Roman"/>
                <a:cs typeface="Times New Roman"/>
                <a:sym typeface="Times New Roman"/>
              </a:rPr>
              <a:t>		     </a:t>
            </a:r>
            <a:r>
              <a:rPr lang="en" sz="1500" b="1" u="sng">
                <a:solidFill>
                  <a:schemeClr val="dk1"/>
                </a:solidFill>
                <a:latin typeface="Times New Roman"/>
                <a:ea typeface="Times New Roman"/>
                <a:cs typeface="Times New Roman"/>
                <a:sym typeface="Times New Roman"/>
              </a:rPr>
              <a:t>Null Check:</a:t>
            </a:r>
            <a:endParaRPr sz="1500" b="1" u="sng">
              <a:solidFill>
                <a:schemeClr val="dk1"/>
              </a:solidFill>
              <a:latin typeface="Times New Roman"/>
              <a:ea typeface="Times New Roman"/>
              <a:cs typeface="Times New Roman"/>
              <a:sym typeface="Times New Roman"/>
            </a:endParaRPr>
          </a:p>
        </p:txBody>
      </p:sp>
      <p:pic>
        <p:nvPicPr>
          <p:cNvPr id="90" name="Google Shape;90;p16"/>
          <p:cNvPicPr preferRelativeResize="0"/>
          <p:nvPr/>
        </p:nvPicPr>
        <p:blipFill>
          <a:blip r:embed="rId5">
            <a:alphaModFix/>
          </a:blip>
          <a:stretch>
            <a:fillRect/>
          </a:stretch>
        </p:blipFill>
        <p:spPr>
          <a:xfrm>
            <a:off x="478250" y="1668475"/>
            <a:ext cx="3276375" cy="1331443"/>
          </a:xfrm>
          <a:prstGeom prst="rect">
            <a:avLst/>
          </a:prstGeom>
          <a:noFill/>
          <a:ln>
            <a:noFill/>
          </a:ln>
        </p:spPr>
      </p:pic>
      <p:pic>
        <p:nvPicPr>
          <p:cNvPr id="91" name="Google Shape;91;p16"/>
          <p:cNvPicPr preferRelativeResize="0"/>
          <p:nvPr/>
        </p:nvPicPr>
        <p:blipFill>
          <a:blip r:embed="rId6">
            <a:alphaModFix/>
          </a:blip>
          <a:stretch>
            <a:fillRect/>
          </a:stretch>
        </p:blipFill>
        <p:spPr>
          <a:xfrm>
            <a:off x="4333250" y="2876975"/>
            <a:ext cx="2224700" cy="1877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EXECUTION: PREPARATION</a:t>
            </a:r>
            <a:endParaRPr/>
          </a:p>
        </p:txBody>
      </p:sp>
      <p:pic>
        <p:nvPicPr>
          <p:cNvPr id="97" name="Google Shape;97;p17"/>
          <p:cNvPicPr preferRelativeResize="0"/>
          <p:nvPr/>
        </p:nvPicPr>
        <p:blipFill>
          <a:blip r:embed="rId3">
            <a:alphaModFix/>
          </a:blip>
          <a:stretch>
            <a:fillRect/>
          </a:stretch>
        </p:blipFill>
        <p:spPr>
          <a:xfrm>
            <a:off x="2877050" y="1601125"/>
            <a:ext cx="6136654" cy="1052588"/>
          </a:xfrm>
          <a:prstGeom prst="rect">
            <a:avLst/>
          </a:prstGeom>
          <a:noFill/>
          <a:ln>
            <a:noFill/>
          </a:ln>
        </p:spPr>
      </p:pic>
      <p:pic>
        <p:nvPicPr>
          <p:cNvPr id="98" name="Google Shape;98;p17"/>
          <p:cNvPicPr preferRelativeResize="0"/>
          <p:nvPr/>
        </p:nvPicPr>
        <p:blipFill>
          <a:blip r:embed="rId4">
            <a:alphaModFix/>
          </a:blip>
          <a:stretch>
            <a:fillRect/>
          </a:stretch>
        </p:blipFill>
        <p:spPr>
          <a:xfrm>
            <a:off x="2877050" y="2779213"/>
            <a:ext cx="6136650" cy="1067951"/>
          </a:xfrm>
          <a:prstGeom prst="rect">
            <a:avLst/>
          </a:prstGeom>
          <a:noFill/>
          <a:ln>
            <a:noFill/>
          </a:ln>
        </p:spPr>
      </p:pic>
      <p:pic>
        <p:nvPicPr>
          <p:cNvPr id="99" name="Google Shape;99;p17"/>
          <p:cNvPicPr preferRelativeResize="0"/>
          <p:nvPr/>
        </p:nvPicPr>
        <p:blipFill>
          <a:blip r:embed="rId5">
            <a:alphaModFix/>
          </a:blip>
          <a:stretch>
            <a:fillRect/>
          </a:stretch>
        </p:blipFill>
        <p:spPr>
          <a:xfrm>
            <a:off x="2877050" y="3972675"/>
            <a:ext cx="6136650" cy="686100"/>
          </a:xfrm>
          <a:prstGeom prst="rect">
            <a:avLst/>
          </a:prstGeom>
          <a:noFill/>
          <a:ln>
            <a:noFill/>
          </a:ln>
        </p:spPr>
      </p:pic>
      <p:sp>
        <p:nvSpPr>
          <p:cNvPr id="100" name="Google Shape;100;p17"/>
          <p:cNvSpPr txBox="1"/>
          <p:nvPr/>
        </p:nvSpPr>
        <p:spPr>
          <a:xfrm>
            <a:off x="269450" y="1601125"/>
            <a:ext cx="2607600" cy="3124800"/>
          </a:xfrm>
          <a:prstGeom prst="rect">
            <a:avLst/>
          </a:prstGeom>
          <a:noFill/>
          <a:ln>
            <a:noFill/>
          </a:ln>
        </p:spPr>
        <p:txBody>
          <a:bodyPr spcFirstLastPara="1" wrap="square" lIns="91425" tIns="91425" rIns="91425" bIns="91425" anchor="t" anchorCtr="0">
            <a:noAutofit/>
          </a:bodyPr>
          <a:lstStyle/>
          <a:p>
            <a:pPr marL="457200" lvl="0" indent="-323850" algn="just"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Mapping the categorical variables to a numerical value.</a:t>
            </a:r>
            <a:endParaRPr sz="150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150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Separating the target variable - Drug, from the rest of the dataset.</a:t>
            </a:r>
            <a:endParaRPr sz="150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150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Splitting the dataset into train and test datasets for modelling.</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EXECUTION: HYPERPARAMETER TUNING</a:t>
            </a:r>
            <a:endParaRPr/>
          </a:p>
        </p:txBody>
      </p:sp>
      <p:sp>
        <p:nvSpPr>
          <p:cNvPr id="106" name="Google Shape;106;p18"/>
          <p:cNvSpPr txBox="1">
            <a:spLocks noGrp="1"/>
          </p:cNvSpPr>
          <p:nvPr>
            <p:ph type="body" idx="1"/>
          </p:nvPr>
        </p:nvSpPr>
        <p:spPr>
          <a:xfrm>
            <a:off x="387900" y="1489825"/>
            <a:ext cx="8368200" cy="1533000"/>
          </a:xfrm>
          <a:prstGeom prst="rect">
            <a:avLst/>
          </a:prstGeom>
        </p:spPr>
        <p:txBody>
          <a:bodyPr spcFirstLastPara="1" wrap="square" lIns="91425" tIns="91425" rIns="91425" bIns="91425" anchor="t" anchorCtr="0">
            <a:normAutofit/>
          </a:bodyPr>
          <a:lstStyle/>
          <a:p>
            <a:pPr marL="0" lvl="0" indent="0" algn="just" rtl="0">
              <a:lnSpc>
                <a:spcPct val="95000"/>
              </a:lnSpc>
              <a:spcBef>
                <a:spcPts val="0"/>
              </a:spcBef>
              <a:spcAft>
                <a:spcPts val="0"/>
              </a:spcAft>
              <a:buNone/>
            </a:pPr>
            <a:r>
              <a:rPr lang="en" sz="1500">
                <a:latin typeface="Times New Roman"/>
                <a:ea typeface="Times New Roman"/>
                <a:cs typeface="Times New Roman"/>
                <a:sym typeface="Times New Roman"/>
              </a:rPr>
              <a:t>Testing with different values of some of the key hyperparameters of the Decision Tree Classifier to fit the training model better with least mean squared error. </a:t>
            </a:r>
            <a:endParaRPr sz="1500">
              <a:latin typeface="Times New Roman"/>
              <a:ea typeface="Times New Roman"/>
              <a:cs typeface="Times New Roman"/>
              <a:sym typeface="Times New Roman"/>
            </a:endParaRPr>
          </a:p>
          <a:p>
            <a:pPr marL="0" lvl="0" indent="0" algn="just" rtl="0">
              <a:lnSpc>
                <a:spcPct val="95000"/>
              </a:lnSpc>
              <a:spcBef>
                <a:spcPts val="1200"/>
              </a:spcBef>
              <a:spcAft>
                <a:spcPts val="0"/>
              </a:spcAft>
              <a:buNone/>
            </a:pPr>
            <a:r>
              <a:rPr lang="en" sz="1500">
                <a:latin typeface="Times New Roman"/>
                <a:ea typeface="Times New Roman"/>
                <a:cs typeface="Times New Roman"/>
                <a:sym typeface="Times New Roman"/>
              </a:rPr>
              <a:t>The values thus chosen were:</a:t>
            </a:r>
            <a:endParaRPr sz="100">
              <a:latin typeface="Times New Roman"/>
              <a:ea typeface="Times New Roman"/>
              <a:cs typeface="Times New Roman"/>
              <a:sym typeface="Times New Roman"/>
            </a:endParaRPr>
          </a:p>
          <a:p>
            <a:pPr marL="0" lvl="0" indent="0" algn="just" rtl="0">
              <a:lnSpc>
                <a:spcPct val="95000"/>
              </a:lnSpc>
              <a:spcBef>
                <a:spcPts val="1200"/>
              </a:spcBef>
              <a:spcAft>
                <a:spcPts val="1200"/>
              </a:spcAft>
              <a:buNone/>
            </a:pPr>
            <a:r>
              <a:rPr lang="en" sz="1500">
                <a:latin typeface="Times New Roman"/>
                <a:ea typeface="Times New Roman"/>
                <a:cs typeface="Times New Roman"/>
                <a:sym typeface="Times New Roman"/>
              </a:rPr>
              <a:t>               max_depth = 7			max_leaf_nodes = 30 			   max_features = None</a:t>
            </a:r>
            <a:endParaRPr sz="1500">
              <a:latin typeface="Times New Roman"/>
              <a:ea typeface="Times New Roman"/>
              <a:cs typeface="Times New Roman"/>
              <a:sym typeface="Times New Roman"/>
            </a:endParaRPr>
          </a:p>
        </p:txBody>
      </p:sp>
      <p:pic>
        <p:nvPicPr>
          <p:cNvPr id="107" name="Google Shape;107;p18"/>
          <p:cNvPicPr preferRelativeResize="0"/>
          <p:nvPr/>
        </p:nvPicPr>
        <p:blipFill>
          <a:blip r:embed="rId3">
            <a:alphaModFix/>
          </a:blip>
          <a:stretch>
            <a:fillRect/>
          </a:stretch>
        </p:blipFill>
        <p:spPr>
          <a:xfrm>
            <a:off x="6008525" y="2801700"/>
            <a:ext cx="2746617" cy="1774826"/>
          </a:xfrm>
          <a:prstGeom prst="rect">
            <a:avLst/>
          </a:prstGeom>
          <a:noFill/>
          <a:ln>
            <a:noFill/>
          </a:ln>
        </p:spPr>
      </p:pic>
      <p:pic>
        <p:nvPicPr>
          <p:cNvPr id="108" name="Google Shape;108;p18"/>
          <p:cNvPicPr preferRelativeResize="0"/>
          <p:nvPr/>
        </p:nvPicPr>
        <p:blipFill>
          <a:blip r:embed="rId4">
            <a:alphaModFix/>
          </a:blip>
          <a:stretch>
            <a:fillRect/>
          </a:stretch>
        </p:blipFill>
        <p:spPr>
          <a:xfrm>
            <a:off x="3210637" y="2817025"/>
            <a:ext cx="2715074" cy="1774826"/>
          </a:xfrm>
          <a:prstGeom prst="rect">
            <a:avLst/>
          </a:prstGeom>
          <a:noFill/>
          <a:ln>
            <a:noFill/>
          </a:ln>
        </p:spPr>
      </p:pic>
      <p:pic>
        <p:nvPicPr>
          <p:cNvPr id="109" name="Google Shape;109;p18"/>
          <p:cNvPicPr preferRelativeResize="0"/>
          <p:nvPr/>
        </p:nvPicPr>
        <p:blipFill>
          <a:blip r:embed="rId5">
            <a:alphaModFix/>
          </a:blip>
          <a:stretch>
            <a:fillRect/>
          </a:stretch>
        </p:blipFill>
        <p:spPr>
          <a:xfrm>
            <a:off x="387900" y="2817025"/>
            <a:ext cx="2739929" cy="1774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EXECUTION: CLASSIFIER MODEL</a:t>
            </a:r>
            <a:endParaRPr/>
          </a:p>
        </p:txBody>
      </p:sp>
      <p:sp>
        <p:nvSpPr>
          <p:cNvPr id="115" name="Google Shape;115;p19"/>
          <p:cNvSpPr txBox="1"/>
          <p:nvPr/>
        </p:nvSpPr>
        <p:spPr>
          <a:xfrm>
            <a:off x="387900" y="1381363"/>
            <a:ext cx="2588700" cy="964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500" b="1" u="sng">
                <a:solidFill>
                  <a:schemeClr val="dk1"/>
                </a:solidFill>
                <a:latin typeface="Times New Roman"/>
                <a:ea typeface="Times New Roman"/>
                <a:cs typeface="Times New Roman"/>
                <a:sym typeface="Times New Roman"/>
              </a:rPr>
              <a:t>Best Model</a:t>
            </a:r>
            <a:r>
              <a:rPr lang="en" sz="1500" b="1">
                <a:solidFill>
                  <a:schemeClr val="dk1"/>
                </a:solidFill>
                <a:latin typeface="Times New Roman"/>
                <a:ea typeface="Times New Roman"/>
                <a:cs typeface="Times New Roman"/>
                <a:sym typeface="Times New Roman"/>
              </a:rPr>
              <a:t>:</a:t>
            </a:r>
            <a:endParaRPr sz="1500" b="1">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100" b="1" u="sng">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r>
              <a:rPr lang="en" sz="1500">
                <a:solidFill>
                  <a:schemeClr val="dk1"/>
                </a:solidFill>
                <a:latin typeface="Times New Roman"/>
                <a:ea typeface="Times New Roman"/>
                <a:cs typeface="Times New Roman"/>
                <a:sym typeface="Times New Roman"/>
              </a:rPr>
              <a:t>Decision Tree Classifier model has been implemented based on the tuned hyperparameters.</a:t>
            </a:r>
            <a:endParaRPr sz="1500">
              <a:solidFill>
                <a:schemeClr val="dk1"/>
              </a:solidFill>
              <a:latin typeface="Times New Roman"/>
              <a:ea typeface="Times New Roman"/>
              <a:cs typeface="Times New Roman"/>
              <a:sym typeface="Times New Roman"/>
            </a:endParaRPr>
          </a:p>
        </p:txBody>
      </p:sp>
      <p:sp>
        <p:nvSpPr>
          <p:cNvPr id="116" name="Google Shape;116;p19"/>
          <p:cNvSpPr txBox="1"/>
          <p:nvPr/>
        </p:nvSpPr>
        <p:spPr>
          <a:xfrm>
            <a:off x="462475" y="3156600"/>
            <a:ext cx="1945800" cy="18345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500">
                <a:solidFill>
                  <a:schemeClr val="dk1"/>
                </a:solidFill>
                <a:latin typeface="Times New Roman"/>
                <a:ea typeface="Times New Roman"/>
                <a:cs typeface="Times New Roman"/>
                <a:sym typeface="Times New Roman"/>
              </a:rPr>
              <a:t>The model seems to predict the drug pretty accurately since the error (MAE and MSE) is nearly 0 and R2 is almost 1. </a:t>
            </a:r>
            <a:endParaRPr sz="1500">
              <a:solidFill>
                <a:schemeClr val="dk1"/>
              </a:solidFill>
              <a:latin typeface="Times New Roman"/>
              <a:ea typeface="Times New Roman"/>
              <a:cs typeface="Times New Roman"/>
              <a:sym typeface="Times New Roman"/>
            </a:endParaRPr>
          </a:p>
        </p:txBody>
      </p:sp>
      <p:sp>
        <p:nvSpPr>
          <p:cNvPr id="117" name="Google Shape;117;p19"/>
          <p:cNvSpPr txBox="1"/>
          <p:nvPr/>
        </p:nvSpPr>
        <p:spPr>
          <a:xfrm>
            <a:off x="462475" y="2346175"/>
            <a:ext cx="8368200" cy="115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Roboto"/>
                <a:ea typeface="Roboto"/>
                <a:cs typeface="Roboto"/>
                <a:sym typeface="Roboto"/>
              </a:rPr>
              <a:t>                                                                                                                                </a:t>
            </a:r>
            <a:r>
              <a:rPr lang="en" sz="1500" b="1" u="sng">
                <a:solidFill>
                  <a:schemeClr val="dk1"/>
                </a:solidFill>
                <a:latin typeface="Roboto"/>
                <a:ea typeface="Roboto"/>
                <a:cs typeface="Roboto"/>
                <a:sym typeface="Roboto"/>
              </a:rPr>
              <a:t>Decision Tree</a:t>
            </a:r>
            <a:r>
              <a:rPr lang="en" sz="1500" b="1">
                <a:solidFill>
                  <a:schemeClr val="dk1"/>
                </a:solidFill>
                <a:latin typeface="Roboto"/>
                <a:ea typeface="Roboto"/>
                <a:cs typeface="Roboto"/>
                <a:sym typeface="Roboto"/>
              </a:rPr>
              <a:t>:</a:t>
            </a:r>
            <a:endParaRPr sz="1500" b="1">
              <a:solidFill>
                <a:schemeClr val="dk1"/>
              </a:solidFill>
              <a:latin typeface="Roboto"/>
              <a:ea typeface="Roboto"/>
              <a:cs typeface="Roboto"/>
              <a:sym typeface="Roboto"/>
            </a:endParaRPr>
          </a:p>
          <a:p>
            <a:pPr marL="0" lvl="0" indent="0" algn="l" rtl="0">
              <a:spcBef>
                <a:spcPts val="0"/>
              </a:spcBef>
              <a:spcAft>
                <a:spcPts val="0"/>
              </a:spcAft>
              <a:buNone/>
            </a:pPr>
            <a:endParaRPr sz="1500" b="1">
              <a:solidFill>
                <a:schemeClr val="dk1"/>
              </a:solidFill>
              <a:latin typeface="Roboto"/>
              <a:ea typeface="Roboto"/>
              <a:cs typeface="Roboto"/>
              <a:sym typeface="Roboto"/>
            </a:endParaRPr>
          </a:p>
          <a:p>
            <a:pPr marL="0" lvl="0" indent="0" algn="l" rtl="0">
              <a:spcBef>
                <a:spcPts val="0"/>
              </a:spcBef>
              <a:spcAft>
                <a:spcPts val="0"/>
              </a:spcAft>
              <a:buNone/>
            </a:pPr>
            <a:endParaRPr sz="1500" b="1">
              <a:solidFill>
                <a:schemeClr val="dk1"/>
              </a:solidFill>
              <a:latin typeface="Roboto"/>
              <a:ea typeface="Roboto"/>
              <a:cs typeface="Roboto"/>
              <a:sym typeface="Roboto"/>
            </a:endParaRPr>
          </a:p>
          <a:p>
            <a:pPr marL="0" lvl="0" indent="0" algn="l" rtl="0">
              <a:spcBef>
                <a:spcPts val="0"/>
              </a:spcBef>
              <a:spcAft>
                <a:spcPts val="0"/>
              </a:spcAft>
              <a:buNone/>
            </a:pPr>
            <a:r>
              <a:rPr lang="en" sz="1500" b="1" u="sng">
                <a:solidFill>
                  <a:schemeClr val="dk1"/>
                </a:solidFill>
                <a:latin typeface="Times New Roman"/>
                <a:ea typeface="Times New Roman"/>
                <a:cs typeface="Times New Roman"/>
                <a:sym typeface="Times New Roman"/>
              </a:rPr>
              <a:t>Verification</a:t>
            </a:r>
            <a:r>
              <a:rPr lang="en" sz="1500" b="1">
                <a:solidFill>
                  <a:schemeClr val="dk1"/>
                </a:solidFill>
                <a:latin typeface="Times New Roman"/>
                <a:ea typeface="Times New Roman"/>
                <a:cs typeface="Times New Roman"/>
                <a:sym typeface="Times New Roman"/>
              </a:rPr>
              <a:t>:</a:t>
            </a:r>
            <a:endParaRPr sz="1500" b="1">
              <a:solidFill>
                <a:schemeClr val="dk1"/>
              </a:solidFill>
              <a:latin typeface="Times New Roman"/>
              <a:ea typeface="Times New Roman"/>
              <a:cs typeface="Times New Roman"/>
              <a:sym typeface="Times New Roman"/>
            </a:endParaRPr>
          </a:p>
        </p:txBody>
      </p:sp>
      <p:pic>
        <p:nvPicPr>
          <p:cNvPr id="118" name="Google Shape;118;p19"/>
          <p:cNvPicPr preferRelativeResize="0"/>
          <p:nvPr/>
        </p:nvPicPr>
        <p:blipFill>
          <a:blip r:embed="rId3">
            <a:alphaModFix/>
          </a:blip>
          <a:stretch>
            <a:fillRect/>
          </a:stretch>
        </p:blipFill>
        <p:spPr>
          <a:xfrm>
            <a:off x="2976600" y="1332400"/>
            <a:ext cx="5854075" cy="1062750"/>
          </a:xfrm>
          <a:prstGeom prst="rect">
            <a:avLst/>
          </a:prstGeom>
          <a:noFill/>
          <a:ln>
            <a:noFill/>
          </a:ln>
        </p:spPr>
      </p:pic>
      <p:pic>
        <p:nvPicPr>
          <p:cNvPr id="119" name="Google Shape;119;p19"/>
          <p:cNvPicPr preferRelativeResize="0"/>
          <p:nvPr/>
        </p:nvPicPr>
        <p:blipFill>
          <a:blip r:embed="rId4">
            <a:alphaModFix/>
          </a:blip>
          <a:stretch>
            <a:fillRect/>
          </a:stretch>
        </p:blipFill>
        <p:spPr>
          <a:xfrm>
            <a:off x="2408263" y="2727950"/>
            <a:ext cx="2863988" cy="2144725"/>
          </a:xfrm>
          <a:prstGeom prst="rect">
            <a:avLst/>
          </a:prstGeom>
          <a:noFill/>
          <a:ln>
            <a:noFill/>
          </a:ln>
        </p:spPr>
      </p:pic>
      <p:pic>
        <p:nvPicPr>
          <p:cNvPr id="120" name="Google Shape;120;p19"/>
          <p:cNvPicPr preferRelativeResize="0"/>
          <p:nvPr/>
        </p:nvPicPr>
        <p:blipFill>
          <a:blip r:embed="rId5">
            <a:alphaModFix/>
          </a:blip>
          <a:stretch>
            <a:fillRect/>
          </a:stretch>
        </p:blipFill>
        <p:spPr>
          <a:xfrm>
            <a:off x="5386306" y="2727950"/>
            <a:ext cx="3444370" cy="2144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EXECUTION: MODEL EXPERIMENTATION</a:t>
            </a:r>
            <a:endParaRPr/>
          </a:p>
        </p:txBody>
      </p:sp>
      <p:sp>
        <p:nvSpPr>
          <p:cNvPr id="126" name="Google Shape;126;p20"/>
          <p:cNvSpPr txBox="1">
            <a:spLocks noGrp="1"/>
          </p:cNvSpPr>
          <p:nvPr>
            <p:ph type="body" idx="1"/>
          </p:nvPr>
        </p:nvSpPr>
        <p:spPr>
          <a:xfrm>
            <a:off x="5098375" y="1489825"/>
            <a:ext cx="3657600" cy="3312900"/>
          </a:xfrm>
          <a:prstGeom prst="rect">
            <a:avLst/>
          </a:prstGeom>
        </p:spPr>
        <p:txBody>
          <a:bodyPr spcFirstLastPara="1" wrap="square" lIns="91425" tIns="91425" rIns="91425" bIns="91425" anchor="t" anchorCtr="0">
            <a:normAutofit lnSpcReduction="10000"/>
          </a:bodyPr>
          <a:lstStyle/>
          <a:p>
            <a:pPr marL="0" lvl="0" indent="0" algn="just" rtl="0">
              <a:lnSpc>
                <a:spcPct val="95000"/>
              </a:lnSpc>
              <a:spcBef>
                <a:spcPts val="0"/>
              </a:spcBef>
              <a:spcAft>
                <a:spcPts val="0"/>
              </a:spcAft>
              <a:buNone/>
            </a:pPr>
            <a:r>
              <a:rPr lang="en" sz="1500" dirty="0">
                <a:latin typeface="Times New Roman"/>
                <a:ea typeface="Times New Roman"/>
                <a:cs typeface="Times New Roman"/>
                <a:sym typeface="Times New Roman"/>
              </a:rPr>
              <a:t>Testing with other acceptable values of some of the hyperparameters to check if they perform better than our selected model.</a:t>
            </a:r>
            <a:endParaRPr sz="1500" dirty="0">
              <a:latin typeface="Times New Roman"/>
              <a:ea typeface="Times New Roman"/>
              <a:cs typeface="Times New Roman"/>
              <a:sym typeface="Times New Roman"/>
            </a:endParaRPr>
          </a:p>
          <a:p>
            <a:pPr marL="0" lvl="0" indent="0" algn="just" rtl="0">
              <a:lnSpc>
                <a:spcPct val="95000"/>
              </a:lnSpc>
              <a:spcBef>
                <a:spcPts val="1200"/>
              </a:spcBef>
              <a:spcAft>
                <a:spcPts val="0"/>
              </a:spcAft>
              <a:buNone/>
            </a:pPr>
            <a:r>
              <a:rPr lang="en" sz="1500" b="1" u="sng" dirty="0">
                <a:latin typeface="Times New Roman"/>
                <a:ea typeface="Times New Roman"/>
                <a:cs typeface="Times New Roman"/>
                <a:sym typeface="Times New Roman"/>
              </a:rPr>
              <a:t>Experiment-1</a:t>
            </a:r>
            <a:r>
              <a:rPr lang="en" sz="1500" dirty="0">
                <a:latin typeface="Times New Roman"/>
                <a:ea typeface="Times New Roman"/>
                <a:cs typeface="Times New Roman"/>
                <a:sym typeface="Times New Roman"/>
              </a:rPr>
              <a:t> with </a:t>
            </a:r>
            <a:endParaRPr sz="100" dirty="0">
              <a:latin typeface="Times New Roman"/>
              <a:ea typeface="Times New Roman"/>
              <a:cs typeface="Times New Roman"/>
              <a:sym typeface="Times New Roman"/>
            </a:endParaRPr>
          </a:p>
          <a:p>
            <a:pPr marL="0" lvl="0" indent="0" algn="just" rtl="0">
              <a:lnSpc>
                <a:spcPct val="95000"/>
              </a:lnSpc>
              <a:spcBef>
                <a:spcPts val="1200"/>
              </a:spcBef>
              <a:spcAft>
                <a:spcPts val="0"/>
              </a:spcAft>
              <a:buNone/>
            </a:pPr>
            <a:r>
              <a:rPr lang="en" sz="1500" dirty="0">
                <a:latin typeface="Times New Roman"/>
                <a:ea typeface="Times New Roman"/>
                <a:cs typeface="Times New Roman"/>
                <a:sym typeface="Times New Roman"/>
              </a:rPr>
              <a:t>max_depth = 10 	             </a:t>
            </a:r>
            <a:r>
              <a:rPr lang="en-GB" sz="1500" dirty="0" err="1">
                <a:latin typeface="Times New Roman"/>
                <a:ea typeface="Times New Roman"/>
                <a:cs typeface="Times New Roman"/>
                <a:sym typeface="Times New Roman"/>
              </a:rPr>
              <a:t>max_leaf_nodes</a:t>
            </a:r>
            <a:r>
              <a:rPr lang="en-GB" sz="1500" dirty="0">
                <a:latin typeface="Times New Roman"/>
                <a:ea typeface="Times New Roman"/>
                <a:cs typeface="Times New Roman"/>
                <a:sym typeface="Times New Roman"/>
              </a:rPr>
              <a:t> = 50 		   </a:t>
            </a:r>
            <a:r>
              <a:rPr lang="en-GB" sz="1500" dirty="0" err="1">
                <a:latin typeface="Times New Roman"/>
                <a:ea typeface="Times New Roman"/>
                <a:cs typeface="Times New Roman"/>
                <a:sym typeface="Times New Roman"/>
              </a:rPr>
              <a:t>max_features</a:t>
            </a:r>
            <a:r>
              <a:rPr lang="en-GB" sz="1500" dirty="0">
                <a:latin typeface="Times New Roman"/>
                <a:ea typeface="Times New Roman"/>
                <a:cs typeface="Times New Roman"/>
                <a:sym typeface="Times New Roman"/>
              </a:rPr>
              <a:t> = sqrt</a:t>
            </a:r>
          </a:p>
          <a:p>
            <a:pPr marL="0" lvl="0" indent="0" algn="just" rtl="0">
              <a:lnSpc>
                <a:spcPct val="95000"/>
              </a:lnSpc>
              <a:spcBef>
                <a:spcPts val="1200"/>
              </a:spcBef>
              <a:spcAft>
                <a:spcPts val="0"/>
              </a:spcAft>
              <a:buNone/>
            </a:pPr>
            <a:r>
              <a:rPr lang="en" sz="1500" b="1" u="sng" dirty="0">
                <a:latin typeface="Times New Roman"/>
                <a:ea typeface="Times New Roman"/>
                <a:cs typeface="Times New Roman"/>
                <a:sym typeface="Times New Roman"/>
              </a:rPr>
              <a:t>Verification</a:t>
            </a:r>
            <a:r>
              <a:rPr lang="en" sz="1500" dirty="0">
                <a:latin typeface="Times New Roman"/>
                <a:ea typeface="Times New Roman"/>
                <a:cs typeface="Times New Roman"/>
                <a:sym typeface="Times New Roman"/>
              </a:rPr>
              <a:t>:</a:t>
            </a:r>
            <a:endParaRPr sz="1500" dirty="0">
              <a:latin typeface="Times New Roman"/>
              <a:ea typeface="Times New Roman"/>
              <a:cs typeface="Times New Roman"/>
              <a:sym typeface="Times New Roman"/>
            </a:endParaRPr>
          </a:p>
          <a:p>
            <a:pPr marL="0" lvl="0" indent="0" rtl="0">
              <a:lnSpc>
                <a:spcPct val="95000"/>
              </a:lnSpc>
              <a:spcBef>
                <a:spcPts val="1200"/>
              </a:spcBef>
              <a:spcAft>
                <a:spcPts val="1200"/>
              </a:spcAft>
              <a:buNone/>
            </a:pPr>
            <a:r>
              <a:rPr lang="en" sz="1500" dirty="0">
                <a:latin typeface="Times New Roman"/>
                <a:ea typeface="Times New Roman"/>
                <a:cs typeface="Times New Roman"/>
                <a:sym typeface="Times New Roman"/>
              </a:rPr>
              <a:t>MAE = 0.11 </a:t>
            </a:r>
            <a:r>
              <a:rPr lang="en" sz="1500" dirty="0">
                <a:solidFill>
                  <a:schemeClr val="accent5"/>
                </a:solidFill>
                <a:latin typeface="Times New Roman"/>
                <a:ea typeface="Times New Roman"/>
                <a:cs typeface="Times New Roman"/>
                <a:sym typeface="Times New Roman"/>
              </a:rPr>
              <a:t>[Best: 0.03]</a:t>
            </a:r>
            <a:r>
              <a:rPr lang="en" sz="1500" dirty="0">
                <a:latin typeface="Times New Roman"/>
                <a:ea typeface="Times New Roman"/>
                <a:cs typeface="Times New Roman"/>
                <a:sym typeface="Times New Roman"/>
              </a:rPr>
              <a:t>	         MSE = 0.28 </a:t>
            </a:r>
            <a:r>
              <a:rPr lang="en" sz="1500" dirty="0">
                <a:solidFill>
                  <a:schemeClr val="accent5"/>
                </a:solidFill>
                <a:latin typeface="Times New Roman"/>
                <a:ea typeface="Times New Roman"/>
                <a:cs typeface="Times New Roman"/>
                <a:sym typeface="Times New Roman"/>
              </a:rPr>
              <a:t>[Best: 0.04]                 </a:t>
            </a:r>
            <a:r>
              <a:rPr lang="en" sz="1500" dirty="0">
                <a:latin typeface="Times New Roman"/>
                <a:ea typeface="Times New Roman"/>
                <a:cs typeface="Times New Roman"/>
                <a:sym typeface="Times New Roman"/>
              </a:rPr>
              <a:t> 	           R2 = 0.86 </a:t>
            </a:r>
            <a:r>
              <a:rPr lang="en" sz="1500" dirty="0">
                <a:solidFill>
                  <a:schemeClr val="accent5"/>
                </a:solidFill>
                <a:latin typeface="Times New Roman"/>
                <a:ea typeface="Times New Roman"/>
                <a:cs typeface="Times New Roman"/>
                <a:sym typeface="Times New Roman"/>
              </a:rPr>
              <a:t>[Best: 0.98]</a:t>
            </a:r>
            <a:endParaRPr sz="1500" dirty="0">
              <a:solidFill>
                <a:schemeClr val="accent5"/>
              </a:solidFill>
              <a:latin typeface="Times New Roman"/>
              <a:ea typeface="Times New Roman"/>
              <a:cs typeface="Times New Roman"/>
              <a:sym typeface="Times New Roman"/>
            </a:endParaRPr>
          </a:p>
        </p:txBody>
      </p:sp>
      <p:pic>
        <p:nvPicPr>
          <p:cNvPr id="127" name="Google Shape;127;p20"/>
          <p:cNvPicPr preferRelativeResize="0"/>
          <p:nvPr/>
        </p:nvPicPr>
        <p:blipFill>
          <a:blip r:embed="rId3">
            <a:alphaModFix/>
          </a:blip>
          <a:stretch>
            <a:fillRect/>
          </a:stretch>
        </p:blipFill>
        <p:spPr>
          <a:xfrm>
            <a:off x="387900" y="1476175"/>
            <a:ext cx="4342922" cy="331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EXECUTION: MODEL EXPERIMENTATION</a:t>
            </a:r>
            <a:endParaRPr/>
          </a:p>
        </p:txBody>
      </p:sp>
      <p:sp>
        <p:nvSpPr>
          <p:cNvPr id="133" name="Google Shape;133;p21"/>
          <p:cNvSpPr txBox="1">
            <a:spLocks noGrp="1"/>
          </p:cNvSpPr>
          <p:nvPr>
            <p:ph type="body" idx="1"/>
          </p:nvPr>
        </p:nvSpPr>
        <p:spPr>
          <a:xfrm>
            <a:off x="5098375" y="1489825"/>
            <a:ext cx="3657600" cy="3312900"/>
          </a:xfrm>
          <a:prstGeom prst="rect">
            <a:avLst/>
          </a:prstGeom>
        </p:spPr>
        <p:txBody>
          <a:bodyPr spcFirstLastPara="1" wrap="square" lIns="91425" tIns="91425" rIns="91425" bIns="91425" anchor="t" anchorCtr="0">
            <a:normAutofit lnSpcReduction="10000"/>
          </a:bodyPr>
          <a:lstStyle/>
          <a:p>
            <a:pPr marL="0" lvl="0" indent="0" algn="just" rtl="0">
              <a:lnSpc>
                <a:spcPct val="95000"/>
              </a:lnSpc>
              <a:spcBef>
                <a:spcPts val="0"/>
              </a:spcBef>
              <a:spcAft>
                <a:spcPts val="0"/>
              </a:spcAft>
              <a:buNone/>
            </a:pPr>
            <a:r>
              <a:rPr lang="en" sz="1500" dirty="0">
                <a:latin typeface="Times New Roman"/>
                <a:ea typeface="Times New Roman"/>
                <a:cs typeface="Times New Roman"/>
                <a:sym typeface="Times New Roman"/>
              </a:rPr>
              <a:t>Testing with other acceptable values of some of the hyperparameters to check if they perform better than our selected model.</a:t>
            </a:r>
            <a:endParaRPr sz="1500" dirty="0">
              <a:latin typeface="Times New Roman"/>
              <a:ea typeface="Times New Roman"/>
              <a:cs typeface="Times New Roman"/>
              <a:sym typeface="Times New Roman"/>
            </a:endParaRPr>
          </a:p>
          <a:p>
            <a:pPr marL="0" lvl="0" indent="0" algn="just" rtl="0">
              <a:lnSpc>
                <a:spcPct val="95000"/>
              </a:lnSpc>
              <a:spcBef>
                <a:spcPts val="1200"/>
              </a:spcBef>
              <a:spcAft>
                <a:spcPts val="0"/>
              </a:spcAft>
              <a:buNone/>
            </a:pPr>
            <a:r>
              <a:rPr lang="en" sz="1500" b="1" u="sng" dirty="0">
                <a:latin typeface="Times New Roman"/>
                <a:ea typeface="Times New Roman"/>
                <a:cs typeface="Times New Roman"/>
                <a:sym typeface="Times New Roman"/>
              </a:rPr>
              <a:t>Experiment-2</a:t>
            </a:r>
            <a:r>
              <a:rPr lang="en" sz="1500" dirty="0">
                <a:latin typeface="Times New Roman"/>
                <a:ea typeface="Times New Roman"/>
                <a:cs typeface="Times New Roman"/>
                <a:sym typeface="Times New Roman"/>
              </a:rPr>
              <a:t> with </a:t>
            </a:r>
            <a:endParaRPr sz="100" dirty="0">
              <a:latin typeface="Times New Roman"/>
              <a:ea typeface="Times New Roman"/>
              <a:cs typeface="Times New Roman"/>
              <a:sym typeface="Times New Roman"/>
            </a:endParaRPr>
          </a:p>
          <a:p>
            <a:pPr marL="0" lvl="0" indent="0" rtl="0">
              <a:lnSpc>
                <a:spcPct val="95000"/>
              </a:lnSpc>
              <a:spcBef>
                <a:spcPts val="1200"/>
              </a:spcBef>
              <a:spcAft>
                <a:spcPts val="0"/>
              </a:spcAft>
              <a:buNone/>
            </a:pPr>
            <a:r>
              <a:rPr lang="en" sz="1500" dirty="0">
                <a:latin typeface="Times New Roman"/>
                <a:ea typeface="Times New Roman"/>
                <a:cs typeface="Times New Roman"/>
                <a:sym typeface="Times New Roman"/>
              </a:rPr>
              <a:t>max_depth = 7                	            max_leaf_nodes = 25 	                       max_features = log2</a:t>
            </a:r>
            <a:endParaRPr sz="1500" dirty="0">
              <a:latin typeface="Times New Roman"/>
              <a:ea typeface="Times New Roman"/>
              <a:cs typeface="Times New Roman"/>
              <a:sym typeface="Times New Roman"/>
            </a:endParaRPr>
          </a:p>
          <a:p>
            <a:pPr marL="0" lvl="0" indent="0" rtl="0">
              <a:lnSpc>
                <a:spcPct val="95000"/>
              </a:lnSpc>
              <a:spcBef>
                <a:spcPts val="1200"/>
              </a:spcBef>
              <a:spcAft>
                <a:spcPts val="0"/>
              </a:spcAft>
              <a:buNone/>
            </a:pPr>
            <a:r>
              <a:rPr lang="en" sz="1500" b="1" u="sng" dirty="0">
                <a:latin typeface="Times New Roman"/>
                <a:ea typeface="Times New Roman"/>
                <a:cs typeface="Times New Roman"/>
                <a:sym typeface="Times New Roman"/>
              </a:rPr>
              <a:t>Verification</a:t>
            </a:r>
            <a:r>
              <a:rPr lang="en" sz="1500" b="1" dirty="0">
                <a:latin typeface="Times New Roman"/>
                <a:ea typeface="Times New Roman"/>
                <a:cs typeface="Times New Roman"/>
                <a:sym typeface="Times New Roman"/>
              </a:rPr>
              <a:t>:</a:t>
            </a:r>
            <a:endParaRPr sz="1500" b="1" dirty="0">
              <a:latin typeface="Times New Roman"/>
              <a:ea typeface="Times New Roman"/>
              <a:cs typeface="Times New Roman"/>
              <a:sym typeface="Times New Roman"/>
            </a:endParaRPr>
          </a:p>
          <a:p>
            <a:pPr marL="0" lvl="0" indent="0" rtl="0">
              <a:lnSpc>
                <a:spcPct val="95000"/>
              </a:lnSpc>
              <a:spcBef>
                <a:spcPts val="1200"/>
              </a:spcBef>
              <a:spcAft>
                <a:spcPts val="1200"/>
              </a:spcAft>
              <a:buNone/>
            </a:pPr>
            <a:r>
              <a:rPr lang="en" sz="1500" dirty="0">
                <a:latin typeface="Times New Roman"/>
                <a:ea typeface="Times New Roman"/>
                <a:cs typeface="Times New Roman"/>
                <a:sym typeface="Times New Roman"/>
              </a:rPr>
              <a:t>MAE = 0.12 </a:t>
            </a:r>
            <a:r>
              <a:rPr lang="en" sz="1500" dirty="0">
                <a:solidFill>
                  <a:schemeClr val="accent5"/>
                </a:solidFill>
                <a:latin typeface="Times New Roman"/>
                <a:ea typeface="Times New Roman"/>
                <a:cs typeface="Times New Roman"/>
                <a:sym typeface="Times New Roman"/>
              </a:rPr>
              <a:t>[Best: 0.03]</a:t>
            </a:r>
            <a:r>
              <a:rPr lang="en" sz="1500" dirty="0">
                <a:latin typeface="Times New Roman"/>
                <a:ea typeface="Times New Roman"/>
                <a:cs typeface="Times New Roman"/>
                <a:sym typeface="Times New Roman"/>
              </a:rPr>
              <a:t>	         MSE = 0.25 </a:t>
            </a:r>
            <a:r>
              <a:rPr lang="en" sz="1500" dirty="0">
                <a:solidFill>
                  <a:schemeClr val="accent5"/>
                </a:solidFill>
                <a:latin typeface="Times New Roman"/>
                <a:ea typeface="Times New Roman"/>
                <a:cs typeface="Times New Roman"/>
                <a:sym typeface="Times New Roman"/>
              </a:rPr>
              <a:t>[Best: 0.04]</a:t>
            </a:r>
            <a:r>
              <a:rPr lang="en" sz="1500" dirty="0">
                <a:latin typeface="Times New Roman"/>
                <a:ea typeface="Times New Roman"/>
                <a:cs typeface="Times New Roman"/>
                <a:sym typeface="Times New Roman"/>
              </a:rPr>
              <a:t>	            R2 = 0.87 </a:t>
            </a:r>
            <a:r>
              <a:rPr lang="en" sz="1500" dirty="0">
                <a:solidFill>
                  <a:schemeClr val="accent5"/>
                </a:solidFill>
                <a:latin typeface="Times New Roman"/>
                <a:ea typeface="Times New Roman"/>
                <a:cs typeface="Times New Roman"/>
                <a:sym typeface="Times New Roman"/>
              </a:rPr>
              <a:t>[Best: 0.98]</a:t>
            </a:r>
            <a:endParaRPr sz="1500" dirty="0">
              <a:solidFill>
                <a:schemeClr val="accent5"/>
              </a:solidFill>
              <a:latin typeface="Times New Roman"/>
              <a:ea typeface="Times New Roman"/>
              <a:cs typeface="Times New Roman"/>
              <a:sym typeface="Times New Roman"/>
            </a:endParaRPr>
          </a:p>
        </p:txBody>
      </p:sp>
      <p:pic>
        <p:nvPicPr>
          <p:cNvPr id="134" name="Google Shape;134;p21"/>
          <p:cNvPicPr preferRelativeResize="0"/>
          <p:nvPr/>
        </p:nvPicPr>
        <p:blipFill>
          <a:blip r:embed="rId3">
            <a:alphaModFix/>
          </a:blip>
          <a:stretch>
            <a:fillRect/>
          </a:stretch>
        </p:blipFill>
        <p:spPr>
          <a:xfrm>
            <a:off x="387900" y="1489825"/>
            <a:ext cx="4349724" cy="3241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EXECUTION: MODEL EXPERIMENTATION</a:t>
            </a:r>
            <a:endParaRPr/>
          </a:p>
        </p:txBody>
      </p:sp>
      <p:sp>
        <p:nvSpPr>
          <p:cNvPr id="140" name="Google Shape;140;p22"/>
          <p:cNvSpPr txBox="1">
            <a:spLocks noGrp="1"/>
          </p:cNvSpPr>
          <p:nvPr>
            <p:ph type="body" idx="1"/>
          </p:nvPr>
        </p:nvSpPr>
        <p:spPr>
          <a:xfrm>
            <a:off x="5098375" y="1489825"/>
            <a:ext cx="3657600" cy="3312900"/>
          </a:xfrm>
          <a:prstGeom prst="rect">
            <a:avLst/>
          </a:prstGeom>
        </p:spPr>
        <p:txBody>
          <a:bodyPr spcFirstLastPara="1" wrap="square" lIns="91425" tIns="91425" rIns="91425" bIns="91425" anchor="t" anchorCtr="0">
            <a:normAutofit lnSpcReduction="10000"/>
          </a:bodyPr>
          <a:lstStyle/>
          <a:p>
            <a:pPr marL="0" lvl="0" indent="0" algn="just" rtl="0">
              <a:lnSpc>
                <a:spcPct val="95000"/>
              </a:lnSpc>
              <a:spcBef>
                <a:spcPts val="0"/>
              </a:spcBef>
              <a:spcAft>
                <a:spcPts val="0"/>
              </a:spcAft>
              <a:buNone/>
            </a:pPr>
            <a:r>
              <a:rPr lang="en" sz="1500" dirty="0">
                <a:latin typeface="Times New Roman"/>
                <a:ea typeface="Times New Roman"/>
                <a:cs typeface="Times New Roman"/>
                <a:sym typeface="Times New Roman"/>
              </a:rPr>
              <a:t>Testing with other acceptable values of some of the hyperparameters to check if they perform better than our selected model.</a:t>
            </a:r>
            <a:endParaRPr sz="1500" dirty="0">
              <a:latin typeface="Times New Roman"/>
              <a:ea typeface="Times New Roman"/>
              <a:cs typeface="Times New Roman"/>
              <a:sym typeface="Times New Roman"/>
            </a:endParaRPr>
          </a:p>
          <a:p>
            <a:pPr marL="0" lvl="0" indent="0" algn="just" rtl="0">
              <a:lnSpc>
                <a:spcPct val="95000"/>
              </a:lnSpc>
              <a:spcBef>
                <a:spcPts val="1200"/>
              </a:spcBef>
              <a:spcAft>
                <a:spcPts val="0"/>
              </a:spcAft>
              <a:buNone/>
            </a:pPr>
            <a:r>
              <a:rPr lang="en" sz="1500" b="1" u="sng" dirty="0">
                <a:latin typeface="Times New Roman"/>
                <a:ea typeface="Times New Roman"/>
                <a:cs typeface="Times New Roman"/>
                <a:sym typeface="Times New Roman"/>
              </a:rPr>
              <a:t>Experiment-3</a:t>
            </a:r>
            <a:r>
              <a:rPr lang="en" sz="1500" dirty="0">
                <a:latin typeface="Times New Roman"/>
                <a:ea typeface="Times New Roman"/>
                <a:cs typeface="Times New Roman"/>
                <a:sym typeface="Times New Roman"/>
              </a:rPr>
              <a:t> with </a:t>
            </a:r>
            <a:endParaRPr sz="100" dirty="0">
              <a:latin typeface="Times New Roman"/>
              <a:ea typeface="Times New Roman"/>
              <a:cs typeface="Times New Roman"/>
              <a:sym typeface="Times New Roman"/>
            </a:endParaRPr>
          </a:p>
          <a:p>
            <a:pPr marL="0" lvl="0" indent="0" rtl="0">
              <a:lnSpc>
                <a:spcPct val="95000"/>
              </a:lnSpc>
              <a:spcBef>
                <a:spcPts val="1200"/>
              </a:spcBef>
              <a:spcAft>
                <a:spcPts val="0"/>
              </a:spcAft>
              <a:buNone/>
            </a:pPr>
            <a:r>
              <a:rPr lang="en" sz="1500" dirty="0">
                <a:latin typeface="Times New Roman"/>
                <a:ea typeface="Times New Roman"/>
                <a:cs typeface="Times New Roman"/>
                <a:sym typeface="Times New Roman"/>
              </a:rPr>
              <a:t>max_depth = 8                                          max_leaf_nodes = 20 		  max_features = log2</a:t>
            </a:r>
            <a:endParaRPr sz="1500" dirty="0">
              <a:latin typeface="Times New Roman"/>
              <a:ea typeface="Times New Roman"/>
              <a:cs typeface="Times New Roman"/>
              <a:sym typeface="Times New Roman"/>
            </a:endParaRPr>
          </a:p>
          <a:p>
            <a:pPr marL="0" lvl="0" indent="0" rtl="0">
              <a:lnSpc>
                <a:spcPct val="95000"/>
              </a:lnSpc>
              <a:spcBef>
                <a:spcPts val="1200"/>
              </a:spcBef>
              <a:spcAft>
                <a:spcPts val="0"/>
              </a:spcAft>
              <a:buNone/>
            </a:pPr>
            <a:r>
              <a:rPr lang="en" sz="1500" b="1" u="sng" dirty="0">
                <a:latin typeface="Times New Roman"/>
                <a:ea typeface="Times New Roman"/>
                <a:cs typeface="Times New Roman"/>
                <a:sym typeface="Times New Roman"/>
              </a:rPr>
              <a:t>Verification</a:t>
            </a:r>
            <a:r>
              <a:rPr lang="en" sz="1500" b="1" dirty="0">
                <a:latin typeface="Times New Roman"/>
                <a:ea typeface="Times New Roman"/>
                <a:cs typeface="Times New Roman"/>
                <a:sym typeface="Times New Roman"/>
              </a:rPr>
              <a:t>:</a:t>
            </a:r>
            <a:endParaRPr sz="1500" b="1" dirty="0">
              <a:latin typeface="Times New Roman"/>
              <a:ea typeface="Times New Roman"/>
              <a:cs typeface="Times New Roman"/>
              <a:sym typeface="Times New Roman"/>
            </a:endParaRPr>
          </a:p>
          <a:p>
            <a:pPr marL="0" lvl="0" indent="0" rtl="0">
              <a:lnSpc>
                <a:spcPct val="95000"/>
              </a:lnSpc>
              <a:spcBef>
                <a:spcPts val="1200"/>
              </a:spcBef>
              <a:spcAft>
                <a:spcPts val="1200"/>
              </a:spcAft>
              <a:buNone/>
            </a:pPr>
            <a:r>
              <a:rPr lang="en" sz="1500" dirty="0">
                <a:latin typeface="Times New Roman"/>
                <a:ea typeface="Times New Roman"/>
                <a:cs typeface="Times New Roman"/>
                <a:sym typeface="Times New Roman"/>
              </a:rPr>
              <a:t>MAE = 0.21 </a:t>
            </a:r>
            <a:r>
              <a:rPr lang="en" sz="1500" dirty="0">
                <a:solidFill>
                  <a:schemeClr val="accent5"/>
                </a:solidFill>
                <a:latin typeface="Times New Roman"/>
                <a:ea typeface="Times New Roman"/>
                <a:cs typeface="Times New Roman"/>
                <a:sym typeface="Times New Roman"/>
              </a:rPr>
              <a:t>[Best: 0.03]</a:t>
            </a:r>
            <a:r>
              <a:rPr lang="en" sz="1500" dirty="0">
                <a:latin typeface="Times New Roman"/>
                <a:ea typeface="Times New Roman"/>
                <a:cs typeface="Times New Roman"/>
                <a:sym typeface="Times New Roman"/>
              </a:rPr>
              <a:t>	         MSE = 0.47 </a:t>
            </a:r>
            <a:r>
              <a:rPr lang="en" sz="1500" dirty="0">
                <a:solidFill>
                  <a:schemeClr val="accent5"/>
                </a:solidFill>
                <a:latin typeface="Times New Roman"/>
                <a:ea typeface="Times New Roman"/>
                <a:cs typeface="Times New Roman"/>
                <a:sym typeface="Times New Roman"/>
              </a:rPr>
              <a:t>[Best: 0.04]</a:t>
            </a:r>
            <a:r>
              <a:rPr lang="en" sz="1500" dirty="0">
                <a:latin typeface="Times New Roman"/>
                <a:ea typeface="Times New Roman"/>
                <a:cs typeface="Times New Roman"/>
                <a:sym typeface="Times New Roman"/>
              </a:rPr>
              <a:t>	            R2 = 0.76 </a:t>
            </a:r>
            <a:r>
              <a:rPr lang="en" sz="1500" dirty="0">
                <a:solidFill>
                  <a:schemeClr val="accent5"/>
                </a:solidFill>
                <a:latin typeface="Times New Roman"/>
                <a:ea typeface="Times New Roman"/>
                <a:cs typeface="Times New Roman"/>
                <a:sym typeface="Times New Roman"/>
              </a:rPr>
              <a:t>[Best: 0.98]</a:t>
            </a:r>
            <a:endParaRPr sz="1500" dirty="0">
              <a:solidFill>
                <a:schemeClr val="accent5"/>
              </a:solidFill>
              <a:latin typeface="Times New Roman"/>
              <a:ea typeface="Times New Roman"/>
              <a:cs typeface="Times New Roman"/>
              <a:sym typeface="Times New Roman"/>
            </a:endParaRPr>
          </a:p>
        </p:txBody>
      </p:sp>
      <p:pic>
        <p:nvPicPr>
          <p:cNvPr id="141" name="Google Shape;141;p22"/>
          <p:cNvPicPr preferRelativeResize="0"/>
          <p:nvPr/>
        </p:nvPicPr>
        <p:blipFill>
          <a:blip r:embed="rId3">
            <a:alphaModFix/>
          </a:blip>
          <a:stretch>
            <a:fillRect/>
          </a:stretch>
        </p:blipFill>
        <p:spPr>
          <a:xfrm>
            <a:off x="387900" y="1489850"/>
            <a:ext cx="4489150" cy="3312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PREDICTION TOOL</a:t>
            </a:r>
            <a:endParaRPr/>
          </a:p>
        </p:txBody>
      </p:sp>
      <p:pic>
        <p:nvPicPr>
          <p:cNvPr id="147" name="Google Shape;147;p23"/>
          <p:cNvPicPr preferRelativeResize="0"/>
          <p:nvPr/>
        </p:nvPicPr>
        <p:blipFill rotWithShape="1">
          <a:blip r:embed="rId3">
            <a:alphaModFix/>
          </a:blip>
          <a:srcRect t="3856" r="3110" b="9080"/>
          <a:stretch/>
        </p:blipFill>
        <p:spPr>
          <a:xfrm>
            <a:off x="5484425" y="1101775"/>
            <a:ext cx="3610250" cy="1194206"/>
          </a:xfrm>
          <a:prstGeom prst="rect">
            <a:avLst/>
          </a:prstGeom>
          <a:noFill/>
          <a:ln>
            <a:noFill/>
          </a:ln>
        </p:spPr>
      </p:pic>
      <p:sp>
        <p:nvSpPr>
          <p:cNvPr id="148" name="Google Shape;148;p23"/>
          <p:cNvSpPr txBox="1"/>
          <p:nvPr/>
        </p:nvSpPr>
        <p:spPr>
          <a:xfrm>
            <a:off x="536650" y="1406525"/>
            <a:ext cx="6615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latin typeface="Times New Roman"/>
                <a:ea typeface="Times New Roman"/>
                <a:cs typeface="Times New Roman"/>
                <a:sym typeface="Times New Roman"/>
              </a:rPr>
              <a:t>Loading the trained model and defining mappings -&gt;</a:t>
            </a:r>
            <a:endParaRPr sz="1500">
              <a:solidFill>
                <a:schemeClr val="dk1"/>
              </a:solidFill>
              <a:latin typeface="Times New Roman"/>
              <a:ea typeface="Times New Roman"/>
              <a:cs typeface="Times New Roman"/>
              <a:sym typeface="Times New Roman"/>
            </a:endParaRPr>
          </a:p>
        </p:txBody>
      </p:sp>
      <p:sp>
        <p:nvSpPr>
          <p:cNvPr id="149" name="Google Shape;149;p23"/>
          <p:cNvSpPr txBox="1"/>
          <p:nvPr/>
        </p:nvSpPr>
        <p:spPr>
          <a:xfrm>
            <a:off x="5484425" y="3217863"/>
            <a:ext cx="33915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latin typeface="Times New Roman"/>
                <a:ea typeface="Times New Roman"/>
                <a:cs typeface="Times New Roman"/>
                <a:sym typeface="Times New Roman"/>
              </a:rPr>
              <a:t>Drug prediction function based on the learned model and user’s input</a:t>
            </a:r>
            <a:endParaRPr sz="1500">
              <a:solidFill>
                <a:schemeClr val="dk1"/>
              </a:solidFill>
              <a:latin typeface="Times New Roman"/>
              <a:ea typeface="Times New Roman"/>
              <a:cs typeface="Times New Roman"/>
              <a:sym typeface="Times New Roman"/>
            </a:endParaRPr>
          </a:p>
        </p:txBody>
      </p:sp>
      <p:pic>
        <p:nvPicPr>
          <p:cNvPr id="150" name="Google Shape;150;p23"/>
          <p:cNvPicPr preferRelativeResize="0"/>
          <p:nvPr/>
        </p:nvPicPr>
        <p:blipFill>
          <a:blip r:embed="rId4">
            <a:alphaModFix/>
          </a:blip>
          <a:stretch>
            <a:fillRect/>
          </a:stretch>
        </p:blipFill>
        <p:spPr>
          <a:xfrm>
            <a:off x="536650" y="1906625"/>
            <a:ext cx="4803750" cy="2909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PREDICTION TOOL</a:t>
            </a:r>
            <a:endParaRPr/>
          </a:p>
        </p:txBody>
      </p:sp>
      <p:pic>
        <p:nvPicPr>
          <p:cNvPr id="156" name="Google Shape;156;p24"/>
          <p:cNvPicPr preferRelativeResize="0"/>
          <p:nvPr/>
        </p:nvPicPr>
        <p:blipFill>
          <a:blip r:embed="rId3">
            <a:alphaModFix/>
          </a:blip>
          <a:stretch>
            <a:fillRect/>
          </a:stretch>
        </p:blipFill>
        <p:spPr>
          <a:xfrm>
            <a:off x="587525" y="2334400"/>
            <a:ext cx="5356850" cy="2540500"/>
          </a:xfrm>
          <a:prstGeom prst="rect">
            <a:avLst/>
          </a:prstGeom>
          <a:noFill/>
          <a:ln>
            <a:noFill/>
          </a:ln>
        </p:spPr>
      </p:pic>
      <p:sp>
        <p:nvSpPr>
          <p:cNvPr id="157" name="Google Shape;157;p24"/>
          <p:cNvSpPr txBox="1"/>
          <p:nvPr/>
        </p:nvSpPr>
        <p:spPr>
          <a:xfrm>
            <a:off x="387900" y="1410225"/>
            <a:ext cx="8515800" cy="877200"/>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User interactive drug prediction tool </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Roboto"/>
              <a:buChar char="●"/>
            </a:pPr>
            <a:r>
              <a:rPr lang="en" sz="1500">
                <a:solidFill>
                  <a:schemeClr val="dk1"/>
                </a:solidFill>
                <a:latin typeface="Times New Roman"/>
                <a:ea typeface="Times New Roman"/>
                <a:cs typeface="Times New Roman"/>
                <a:sym typeface="Times New Roman"/>
              </a:rPr>
              <a:t>Takes the input parameters from user and predicts the drug using the </a:t>
            </a:r>
            <a:r>
              <a:rPr lang="en" sz="1500" b="1">
                <a:solidFill>
                  <a:schemeClr val="dk1"/>
                </a:solidFill>
                <a:latin typeface="Times New Roman"/>
                <a:ea typeface="Times New Roman"/>
                <a:cs typeface="Times New Roman"/>
                <a:sym typeface="Times New Roman"/>
              </a:rPr>
              <a:t>predict_drug</a:t>
            </a:r>
            <a:r>
              <a:rPr lang="en" sz="1500">
                <a:solidFill>
                  <a:schemeClr val="dk1"/>
                </a:solidFill>
                <a:latin typeface="Times New Roman"/>
                <a:ea typeface="Times New Roman"/>
                <a:cs typeface="Times New Roman"/>
                <a:sym typeface="Times New Roman"/>
              </a:rPr>
              <a:t> function created previously</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DRUG PREDICTION - DEMO</a:t>
            </a:r>
            <a:endParaRPr/>
          </a:p>
        </p:txBody>
      </p:sp>
      <p:pic>
        <p:nvPicPr>
          <p:cNvPr id="163" name="Google Shape;163;p25"/>
          <p:cNvPicPr preferRelativeResize="0"/>
          <p:nvPr/>
        </p:nvPicPr>
        <p:blipFill rotWithShape="1">
          <a:blip r:embed="rId3">
            <a:alphaModFix/>
          </a:blip>
          <a:srcRect r="2903"/>
          <a:stretch/>
        </p:blipFill>
        <p:spPr>
          <a:xfrm>
            <a:off x="158900" y="3171825"/>
            <a:ext cx="2934627" cy="1552825"/>
          </a:xfrm>
          <a:prstGeom prst="rect">
            <a:avLst/>
          </a:prstGeom>
          <a:noFill/>
          <a:ln>
            <a:noFill/>
          </a:ln>
        </p:spPr>
      </p:pic>
      <p:pic>
        <p:nvPicPr>
          <p:cNvPr id="164" name="Google Shape;164;p25"/>
          <p:cNvPicPr preferRelativeResize="0"/>
          <p:nvPr/>
        </p:nvPicPr>
        <p:blipFill>
          <a:blip r:embed="rId4">
            <a:alphaModFix/>
          </a:blip>
          <a:stretch>
            <a:fillRect/>
          </a:stretch>
        </p:blipFill>
        <p:spPr>
          <a:xfrm>
            <a:off x="3236563" y="3171825"/>
            <a:ext cx="2852250" cy="1552825"/>
          </a:xfrm>
          <a:prstGeom prst="rect">
            <a:avLst/>
          </a:prstGeom>
          <a:noFill/>
          <a:ln>
            <a:noFill/>
          </a:ln>
        </p:spPr>
      </p:pic>
      <p:sp>
        <p:nvSpPr>
          <p:cNvPr id="165" name="Google Shape;165;p25"/>
          <p:cNvSpPr txBox="1"/>
          <p:nvPr/>
        </p:nvSpPr>
        <p:spPr>
          <a:xfrm>
            <a:off x="295925" y="1469925"/>
            <a:ext cx="8690100" cy="1339200"/>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User interactive drug prediction system to predict drug for the illness</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Input: </a:t>
            </a:r>
            <a:endParaRPr sz="1500">
              <a:solidFill>
                <a:schemeClr val="dk1"/>
              </a:solidFill>
              <a:latin typeface="Times New Roman"/>
              <a:ea typeface="Times New Roman"/>
              <a:cs typeface="Times New Roman"/>
              <a:sym typeface="Times New Roman"/>
            </a:endParaRPr>
          </a:p>
          <a:p>
            <a:pPr marL="914400" lvl="1"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Age, Sex, Blood Pressure, Cholesterol Level, Sodium to Potassium Ratio</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Output: </a:t>
            </a:r>
            <a:endParaRPr sz="1500">
              <a:solidFill>
                <a:schemeClr val="dk1"/>
              </a:solidFill>
              <a:latin typeface="Times New Roman"/>
              <a:ea typeface="Times New Roman"/>
              <a:cs typeface="Times New Roman"/>
              <a:sym typeface="Times New Roman"/>
            </a:endParaRPr>
          </a:p>
          <a:p>
            <a:pPr marL="914400" lvl="1"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Best suitable drug for the illness as per the patient’s health indicators</a:t>
            </a:r>
            <a:endParaRPr sz="1500">
              <a:solidFill>
                <a:schemeClr val="dk1"/>
              </a:solidFill>
              <a:latin typeface="Times New Roman"/>
              <a:ea typeface="Times New Roman"/>
              <a:cs typeface="Times New Roman"/>
              <a:sym typeface="Times New Roman"/>
            </a:endParaRPr>
          </a:p>
        </p:txBody>
      </p:sp>
      <p:pic>
        <p:nvPicPr>
          <p:cNvPr id="166" name="Google Shape;166;p25"/>
          <p:cNvPicPr preferRelativeResize="0"/>
          <p:nvPr/>
        </p:nvPicPr>
        <p:blipFill>
          <a:blip r:embed="rId5">
            <a:alphaModFix/>
          </a:blip>
          <a:stretch>
            <a:fillRect/>
          </a:stretch>
        </p:blipFill>
        <p:spPr>
          <a:xfrm>
            <a:off x="6231850" y="3171825"/>
            <a:ext cx="2754187" cy="1552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REFERENCES</a:t>
            </a:r>
            <a:endParaRPr/>
          </a:p>
        </p:txBody>
      </p:sp>
      <p:sp>
        <p:nvSpPr>
          <p:cNvPr id="172" name="Google Shape;172;p26"/>
          <p:cNvSpPr txBox="1">
            <a:spLocks noGrp="1"/>
          </p:cNvSpPr>
          <p:nvPr>
            <p:ph type="body" idx="1"/>
          </p:nvPr>
        </p:nvSpPr>
        <p:spPr>
          <a:xfrm>
            <a:off x="387900" y="1354475"/>
            <a:ext cx="8368200" cy="3254700"/>
          </a:xfrm>
          <a:prstGeom prst="rect">
            <a:avLst/>
          </a:prstGeom>
        </p:spPr>
        <p:txBody>
          <a:bodyPr spcFirstLastPara="1" wrap="square" lIns="91425" tIns="91425" rIns="91425" bIns="91425" anchor="t" anchorCtr="0">
            <a:noAutofit/>
          </a:bodyPr>
          <a:lstStyle/>
          <a:p>
            <a:pPr marL="12700" lvl="0" indent="0" algn="l" rtl="0">
              <a:lnSpc>
                <a:spcPct val="95000"/>
              </a:lnSpc>
              <a:spcBef>
                <a:spcPts val="0"/>
              </a:spcBef>
              <a:spcAft>
                <a:spcPts val="0"/>
              </a:spcAft>
              <a:buNone/>
            </a:pPr>
            <a:r>
              <a:rPr lang="en" sz="1500">
                <a:solidFill>
                  <a:srgbClr val="FFFFFF"/>
                </a:solidFill>
                <a:latin typeface="Times New Roman"/>
                <a:ea typeface="Times New Roman"/>
                <a:cs typeface="Times New Roman"/>
                <a:sym typeface="Times New Roman"/>
              </a:rPr>
              <a:t>1. Dataset Source: </a:t>
            </a:r>
            <a:r>
              <a:rPr lang="en" sz="1500" u="sng">
                <a:solidFill>
                  <a:schemeClr val="hlink"/>
                </a:solidFill>
                <a:latin typeface="Times New Roman"/>
                <a:ea typeface="Times New Roman"/>
                <a:cs typeface="Times New Roman"/>
                <a:sym typeface="Times New Roman"/>
                <a:hlinkClick r:id="rId3"/>
              </a:rPr>
              <a:t>Drug Dataset</a:t>
            </a:r>
            <a:r>
              <a:rPr lang="en" sz="1500" u="sng">
                <a:solidFill>
                  <a:schemeClr val="hlink"/>
                </a:solidFill>
                <a:latin typeface="Times New Roman"/>
                <a:ea typeface="Times New Roman"/>
                <a:cs typeface="Times New Roman"/>
                <a:sym typeface="Times New Roman"/>
              </a:rPr>
              <a:t> </a:t>
            </a:r>
            <a:r>
              <a:rPr lang="en" sz="1500">
                <a:latin typeface="Times New Roman"/>
                <a:ea typeface="Times New Roman"/>
                <a:cs typeface="Times New Roman"/>
                <a:sym typeface="Times New Roman"/>
              </a:rPr>
              <a:t>(Kaggle)</a:t>
            </a:r>
            <a:endParaRPr sz="1500">
              <a:latin typeface="Times New Roman"/>
              <a:ea typeface="Times New Roman"/>
              <a:cs typeface="Times New Roman"/>
              <a:sym typeface="Times New Roman"/>
            </a:endParaRPr>
          </a:p>
          <a:p>
            <a:pPr marL="12700" lvl="0" indent="0" algn="just" rtl="0">
              <a:lnSpc>
                <a:spcPct val="88000"/>
              </a:lnSpc>
              <a:spcBef>
                <a:spcPts val="1200"/>
              </a:spcBef>
              <a:spcAft>
                <a:spcPts val="0"/>
              </a:spcAft>
              <a:buNone/>
            </a:pPr>
            <a:r>
              <a:rPr lang="en" sz="1500">
                <a:solidFill>
                  <a:srgbClr val="FFFFFF"/>
                </a:solidFill>
                <a:latin typeface="Times New Roman"/>
                <a:ea typeface="Times New Roman"/>
                <a:cs typeface="Times New Roman"/>
                <a:sym typeface="Times New Roman"/>
              </a:rPr>
              <a:t>2. Software Tools Used:  	a. Python, Pandas, NumPy, Scikit-learn, Matplotlib, Seaborn</a:t>
            </a:r>
            <a:endParaRPr sz="1500">
              <a:solidFill>
                <a:srgbClr val="FFFFFF"/>
              </a:solidFill>
              <a:latin typeface="Times New Roman"/>
              <a:ea typeface="Times New Roman"/>
              <a:cs typeface="Times New Roman"/>
              <a:sym typeface="Times New Roman"/>
            </a:endParaRPr>
          </a:p>
          <a:p>
            <a:pPr marL="1828800" lvl="0" indent="0" algn="just" rtl="0">
              <a:lnSpc>
                <a:spcPct val="88000"/>
              </a:lnSpc>
              <a:spcBef>
                <a:spcPts val="1200"/>
              </a:spcBef>
              <a:spcAft>
                <a:spcPts val="0"/>
              </a:spcAft>
              <a:buNone/>
            </a:pPr>
            <a:r>
              <a:rPr lang="en" sz="1500">
                <a:solidFill>
                  <a:srgbClr val="FFFFFF"/>
                </a:solidFill>
                <a:latin typeface="Times New Roman"/>
                <a:ea typeface="Times New Roman"/>
                <a:cs typeface="Times New Roman"/>
                <a:sym typeface="Times New Roman"/>
              </a:rPr>
              <a:t>       	b.</a:t>
            </a:r>
            <a:r>
              <a:rPr lang="en" sz="1500" u="sng">
                <a:solidFill>
                  <a:schemeClr val="hlink"/>
                </a:solidFill>
                <a:latin typeface="Times New Roman"/>
                <a:ea typeface="Times New Roman"/>
                <a:cs typeface="Times New Roman"/>
                <a:sym typeface="Times New Roman"/>
                <a:hlinkClick r:id="rId4"/>
              </a:rPr>
              <a:t> Google Colab</a:t>
            </a:r>
            <a:r>
              <a:rPr lang="en" sz="1500">
                <a:solidFill>
                  <a:srgbClr val="FFFFFF"/>
                </a:solidFill>
                <a:latin typeface="Times New Roman"/>
                <a:ea typeface="Times New Roman"/>
                <a:cs typeface="Times New Roman"/>
                <a:sym typeface="Times New Roman"/>
              </a:rPr>
              <a:t>: For code execution</a:t>
            </a:r>
            <a:endParaRPr sz="1500">
              <a:solidFill>
                <a:srgbClr val="FFFFFF"/>
              </a:solidFill>
              <a:latin typeface="Times New Roman"/>
              <a:ea typeface="Times New Roman"/>
              <a:cs typeface="Times New Roman"/>
              <a:sym typeface="Times New Roman"/>
            </a:endParaRPr>
          </a:p>
          <a:p>
            <a:pPr marL="12700" lvl="0" indent="0" algn="just" rtl="0">
              <a:lnSpc>
                <a:spcPct val="88000"/>
              </a:lnSpc>
              <a:spcBef>
                <a:spcPts val="1200"/>
              </a:spcBef>
              <a:spcAft>
                <a:spcPts val="0"/>
              </a:spcAft>
              <a:buNone/>
            </a:pPr>
            <a:r>
              <a:rPr lang="en" sz="1500">
                <a:solidFill>
                  <a:srgbClr val="FFFFFF"/>
                </a:solidFill>
                <a:latin typeface="Times New Roman"/>
                <a:ea typeface="Times New Roman"/>
                <a:cs typeface="Times New Roman"/>
                <a:sym typeface="Times New Roman"/>
              </a:rPr>
              <a:t>3. Online Sites Explored:</a:t>
            </a:r>
            <a:endParaRPr sz="1500">
              <a:solidFill>
                <a:srgbClr val="FFFFFF"/>
              </a:solidFill>
              <a:latin typeface="Times New Roman"/>
              <a:ea typeface="Times New Roman"/>
              <a:cs typeface="Times New Roman"/>
              <a:sym typeface="Times New Roman"/>
            </a:endParaRPr>
          </a:p>
          <a:p>
            <a:pPr marL="12700" lvl="0" indent="444500" algn="l" rtl="0">
              <a:lnSpc>
                <a:spcPct val="95000"/>
              </a:lnSpc>
              <a:spcBef>
                <a:spcPts val="1200"/>
              </a:spcBef>
              <a:spcAft>
                <a:spcPts val="0"/>
              </a:spcAft>
              <a:buNone/>
            </a:pPr>
            <a:r>
              <a:rPr lang="en" sz="1500">
                <a:solidFill>
                  <a:srgbClr val="FFFFFF"/>
                </a:solidFill>
                <a:latin typeface="Times New Roman"/>
                <a:ea typeface="Times New Roman"/>
                <a:cs typeface="Times New Roman"/>
                <a:sym typeface="Times New Roman"/>
              </a:rPr>
              <a:t>a.</a:t>
            </a:r>
            <a:r>
              <a:rPr lang="en" sz="1500" u="sng">
                <a:solidFill>
                  <a:schemeClr val="hlink"/>
                </a:solidFill>
                <a:latin typeface="Times New Roman"/>
                <a:ea typeface="Times New Roman"/>
                <a:cs typeface="Times New Roman"/>
                <a:sym typeface="Times New Roman"/>
                <a:hlinkClick r:id="rId5"/>
              </a:rPr>
              <a:t>https://scikit-learn.org/stable/modules/generated/sklearn.tree.DecisionTreeClassifier.html</a:t>
            </a:r>
            <a:endParaRPr sz="1500">
              <a:solidFill>
                <a:srgbClr val="FFFFFF"/>
              </a:solidFill>
              <a:latin typeface="Times New Roman"/>
              <a:ea typeface="Times New Roman"/>
              <a:cs typeface="Times New Roman"/>
              <a:sym typeface="Times New Roman"/>
            </a:endParaRPr>
          </a:p>
          <a:p>
            <a:pPr marL="12700" lvl="0" indent="444500" algn="l" rtl="0">
              <a:lnSpc>
                <a:spcPct val="95000"/>
              </a:lnSpc>
              <a:spcBef>
                <a:spcPts val="0"/>
              </a:spcBef>
              <a:spcAft>
                <a:spcPts val="0"/>
              </a:spcAft>
              <a:buNone/>
            </a:pPr>
            <a:r>
              <a:rPr lang="en" sz="1500">
                <a:solidFill>
                  <a:srgbClr val="FFFFFF"/>
                </a:solidFill>
                <a:latin typeface="Times New Roman"/>
                <a:ea typeface="Times New Roman"/>
                <a:cs typeface="Times New Roman"/>
                <a:sym typeface="Times New Roman"/>
              </a:rPr>
              <a:t>b.</a:t>
            </a:r>
            <a:r>
              <a:rPr lang="en" sz="1500" u="sng">
                <a:solidFill>
                  <a:schemeClr val="hlink"/>
                </a:solidFill>
                <a:latin typeface="Times New Roman"/>
                <a:ea typeface="Times New Roman"/>
                <a:cs typeface="Times New Roman"/>
                <a:sym typeface="Times New Roman"/>
                <a:hlinkClick r:id="rId6"/>
              </a:rPr>
              <a:t>https://www.sciencedirect.com/topics/computer-science/decision-tree-classifier</a:t>
            </a:r>
            <a:endParaRPr sz="1500">
              <a:solidFill>
                <a:srgbClr val="FFFFFF"/>
              </a:solidFill>
              <a:latin typeface="Times New Roman"/>
              <a:ea typeface="Times New Roman"/>
              <a:cs typeface="Times New Roman"/>
              <a:sym typeface="Times New Roman"/>
            </a:endParaRPr>
          </a:p>
          <a:p>
            <a:pPr marL="12700" lvl="0" indent="444500" algn="l" rtl="0">
              <a:lnSpc>
                <a:spcPct val="95000"/>
              </a:lnSpc>
              <a:spcBef>
                <a:spcPts val="0"/>
              </a:spcBef>
              <a:spcAft>
                <a:spcPts val="0"/>
              </a:spcAft>
              <a:buNone/>
            </a:pPr>
            <a:r>
              <a:rPr lang="en" sz="1500">
                <a:solidFill>
                  <a:srgbClr val="FFFFFF"/>
                </a:solidFill>
                <a:latin typeface="Times New Roman"/>
                <a:ea typeface="Times New Roman"/>
                <a:cs typeface="Times New Roman"/>
                <a:sym typeface="Times New Roman"/>
              </a:rPr>
              <a:t>c.</a:t>
            </a:r>
            <a:r>
              <a:rPr lang="en" sz="1500" u="sng">
                <a:solidFill>
                  <a:schemeClr val="hlink"/>
                </a:solidFill>
                <a:latin typeface="Times New Roman"/>
                <a:ea typeface="Times New Roman"/>
                <a:cs typeface="Times New Roman"/>
                <a:sym typeface="Times New Roman"/>
                <a:hlinkClick r:id="rId7"/>
              </a:rPr>
              <a:t>https://farshadabdulazeez.medium.com/understanding-decision-tree-regressor-an-in-dep</a:t>
            </a:r>
            <a:endParaRPr sz="1500">
              <a:latin typeface="Times New Roman"/>
              <a:ea typeface="Times New Roman"/>
              <a:cs typeface="Times New Roman"/>
              <a:sym typeface="Times New Roman"/>
            </a:endParaRPr>
          </a:p>
          <a:p>
            <a:pPr marL="12700" lvl="0" indent="444500" algn="l" rtl="0">
              <a:lnSpc>
                <a:spcPct val="95000"/>
              </a:lnSpc>
              <a:spcBef>
                <a:spcPts val="0"/>
              </a:spcBef>
              <a:spcAft>
                <a:spcPts val="0"/>
              </a:spcAft>
              <a:buNone/>
            </a:pPr>
            <a:r>
              <a:rPr lang="en" sz="1500" u="sng">
                <a:solidFill>
                  <a:schemeClr val="hlink"/>
                </a:solidFill>
                <a:latin typeface="Times New Roman"/>
                <a:ea typeface="Times New Roman"/>
                <a:cs typeface="Times New Roman"/>
                <a:sym typeface="Times New Roman"/>
                <a:hlinkClick r:id="rId7"/>
              </a:rPr>
              <a:t>th-intuition-a1d3af182efd</a:t>
            </a:r>
            <a:endParaRPr sz="1500">
              <a:solidFill>
                <a:srgbClr val="FFFFFF"/>
              </a:solidFill>
              <a:latin typeface="Times New Roman"/>
              <a:ea typeface="Times New Roman"/>
              <a:cs typeface="Times New Roman"/>
              <a:sym typeface="Times New Roman"/>
            </a:endParaRPr>
          </a:p>
          <a:p>
            <a:pPr marL="0" lvl="0" indent="0" algn="just" rtl="0">
              <a:lnSpc>
                <a:spcPct val="88000"/>
              </a:lnSpc>
              <a:spcBef>
                <a:spcPts val="1200"/>
              </a:spcBef>
              <a:spcAft>
                <a:spcPts val="0"/>
              </a:spcAft>
              <a:buNone/>
            </a:pPr>
            <a:r>
              <a:rPr lang="en" sz="1500">
                <a:solidFill>
                  <a:srgbClr val="FFFFFF"/>
                </a:solidFill>
                <a:latin typeface="Times New Roman"/>
                <a:ea typeface="Times New Roman"/>
                <a:cs typeface="Times New Roman"/>
                <a:sym typeface="Times New Roman"/>
              </a:rPr>
              <a:t>  4. Online Documentation &amp; Resources:</a:t>
            </a:r>
            <a:endParaRPr sz="1500">
              <a:solidFill>
                <a:srgbClr val="FFFFFF"/>
              </a:solidFill>
              <a:latin typeface="Times New Roman"/>
              <a:ea typeface="Times New Roman"/>
              <a:cs typeface="Times New Roman"/>
              <a:sym typeface="Times New Roman"/>
            </a:endParaRPr>
          </a:p>
          <a:p>
            <a:pPr marL="0" lvl="0" indent="457200" algn="just" rtl="0">
              <a:lnSpc>
                <a:spcPct val="88000"/>
              </a:lnSpc>
              <a:spcBef>
                <a:spcPts val="1200"/>
              </a:spcBef>
              <a:spcAft>
                <a:spcPts val="0"/>
              </a:spcAft>
              <a:buNone/>
            </a:pPr>
            <a:r>
              <a:rPr lang="en" sz="1500">
                <a:solidFill>
                  <a:srgbClr val="FFFFFF"/>
                </a:solidFill>
                <a:latin typeface="Times New Roman"/>
                <a:ea typeface="Times New Roman"/>
                <a:cs typeface="Times New Roman"/>
                <a:sym typeface="Times New Roman"/>
              </a:rPr>
              <a:t>a.Pandas:</a:t>
            </a:r>
            <a:r>
              <a:rPr lang="en" sz="1500">
                <a:solidFill>
                  <a:srgbClr val="FFFFFF"/>
                </a:solidFill>
                <a:uFill>
                  <a:noFill/>
                </a:u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 </a:t>
            </a:r>
            <a:r>
              <a:rPr lang="en" sz="1500" u="sng">
                <a:solidFill>
                  <a:schemeClr val="hlink"/>
                </a:solidFill>
                <a:latin typeface="Times New Roman"/>
                <a:ea typeface="Times New Roman"/>
                <a:cs typeface="Times New Roman"/>
                <a:sym typeface="Times New Roman"/>
                <a:hlinkClick r:id="rId8"/>
              </a:rPr>
              <a:t>https://pandas.pydata.org/docs/</a:t>
            </a:r>
            <a:endParaRPr sz="1500">
              <a:solidFill>
                <a:srgbClr val="FFFFFF"/>
              </a:solidFill>
              <a:latin typeface="Times New Roman"/>
              <a:ea typeface="Times New Roman"/>
              <a:cs typeface="Times New Roman"/>
              <a:sym typeface="Times New Roman"/>
            </a:endParaRPr>
          </a:p>
          <a:p>
            <a:pPr marL="0" lvl="0" indent="457200" algn="just" rtl="0">
              <a:lnSpc>
                <a:spcPct val="88000"/>
              </a:lnSpc>
              <a:spcBef>
                <a:spcPts val="1200"/>
              </a:spcBef>
              <a:spcAft>
                <a:spcPts val="0"/>
              </a:spcAft>
              <a:buNone/>
            </a:pPr>
            <a:r>
              <a:rPr lang="en" sz="1500">
                <a:solidFill>
                  <a:srgbClr val="FFFFFF"/>
                </a:solidFill>
                <a:latin typeface="Times New Roman"/>
                <a:ea typeface="Times New Roman"/>
                <a:cs typeface="Times New Roman"/>
                <a:sym typeface="Times New Roman"/>
              </a:rPr>
              <a:t>b.Scikit-learn:</a:t>
            </a:r>
            <a:r>
              <a:rPr lang="en" sz="1500">
                <a:solidFill>
                  <a:srgbClr val="FFFFFF"/>
                </a:solidFill>
                <a:uFill>
                  <a:noFill/>
                </a:u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 </a:t>
            </a:r>
            <a:r>
              <a:rPr lang="en" sz="1500" u="sng">
                <a:solidFill>
                  <a:schemeClr val="hlink"/>
                </a:solidFill>
                <a:latin typeface="Times New Roman"/>
                <a:ea typeface="Times New Roman"/>
                <a:cs typeface="Times New Roman"/>
                <a:sym typeface="Times New Roman"/>
              </a:rPr>
              <a:t>https://scikit-learn.org/0.21/documentation.html</a:t>
            </a:r>
            <a:endParaRPr sz="1500" u="sng">
              <a:solidFill>
                <a:schemeClr val="hlink"/>
              </a:solidFill>
              <a:latin typeface="Times New Roman"/>
              <a:ea typeface="Times New Roman"/>
              <a:cs typeface="Times New Roman"/>
              <a:sym typeface="Times New Roman"/>
            </a:endParaRPr>
          </a:p>
          <a:p>
            <a:pPr marL="0" lvl="0" indent="0" algn="l" rtl="0">
              <a:lnSpc>
                <a:spcPct val="95000"/>
              </a:lnSpc>
              <a:spcBef>
                <a:spcPts val="0"/>
              </a:spcBef>
              <a:spcAft>
                <a:spcPts val="1200"/>
              </a:spcAft>
              <a:buSzPts val="440"/>
              <a:buNone/>
            </a:pPr>
            <a:endParaRPr sz="15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1001</Words>
  <Application>Microsoft Office PowerPoint</Application>
  <PresentationFormat>On-screen Show (16:9)</PresentationFormat>
  <Paragraphs>94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Roboto</vt:lpstr>
      <vt:lpstr>Roboto Slab</vt:lpstr>
      <vt:lpstr>Arial</vt:lpstr>
      <vt:lpstr>Times New Roman</vt:lpstr>
      <vt:lpstr>Marina</vt:lpstr>
      <vt:lpstr>CSIT558_01SP25 | ASSIGNMENT-4: PREDICTIVE DATA MINING </vt:lpstr>
      <vt:lpstr>DESCRIPTION</vt:lpstr>
      <vt:lpstr>DATA MINING TECHNIQUE</vt:lpstr>
      <vt:lpstr>DATA LOADING AND CLEANING</vt:lpstr>
      <vt:lpstr>EXECUTION: PREPARATION</vt:lpstr>
      <vt:lpstr>EXECUTION: HYPERPARAMETER TUNING</vt:lpstr>
      <vt:lpstr>EXECUTION: CLASSIFIER MODEL</vt:lpstr>
      <vt:lpstr>EXECUTION: MODEL EXPERIMENTATION</vt:lpstr>
      <vt:lpstr>EXECUTION: MODEL EXPERIMENTATION</vt:lpstr>
      <vt:lpstr>EXECUTION: MODEL EXPERIMENTATION</vt:lpstr>
      <vt:lpstr>PREDICTION TOOL</vt:lpstr>
      <vt:lpstr>PREDICTION TOOL</vt:lpstr>
      <vt:lpstr>DRUG PREDICTION - DEMO</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Syed Mehrose Javed</cp:lastModifiedBy>
  <cp:revision>1</cp:revision>
  <dcterms:modified xsi:type="dcterms:W3CDTF">2025-04-03T04:59:47Z</dcterms:modified>
</cp:coreProperties>
</file>